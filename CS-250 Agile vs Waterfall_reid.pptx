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2" d="100"/>
          <a:sy n="102" d="100"/>
        </p:scale>
        <p:origin x="11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6C7D81-7B10-46EE-96A1-A9230112A3F5}"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86727ECE-404A-4825-88D7-D01276C1750F}">
      <dgm:prSet/>
      <dgm:spPr/>
      <dgm:t>
        <a:bodyPr/>
        <a:lstStyle/>
        <a:p>
          <a:pPr>
            <a:lnSpc>
              <a:spcPct val="100000"/>
            </a:lnSpc>
            <a:defRPr b="1"/>
          </a:pPr>
          <a:r>
            <a:rPr lang="en-US" b="1"/>
            <a:t>Product Owner</a:t>
          </a:r>
          <a:r>
            <a:rPr lang="en-US"/>
            <a:t>:</a:t>
          </a:r>
        </a:p>
      </dgm:t>
    </dgm:pt>
    <dgm:pt modelId="{BFDA92D2-6E30-40FA-AE9B-60C96A551296}" type="parTrans" cxnId="{C2EF78CC-2A1B-43F9-8660-363A52231DBC}">
      <dgm:prSet/>
      <dgm:spPr/>
      <dgm:t>
        <a:bodyPr/>
        <a:lstStyle/>
        <a:p>
          <a:endParaRPr lang="en-US"/>
        </a:p>
      </dgm:t>
    </dgm:pt>
    <dgm:pt modelId="{36F4F457-D3D3-4CCF-AFB5-6B163D584430}" type="sibTrans" cxnId="{C2EF78CC-2A1B-43F9-8660-363A52231DBC}">
      <dgm:prSet/>
      <dgm:spPr/>
      <dgm:t>
        <a:bodyPr/>
        <a:lstStyle/>
        <a:p>
          <a:endParaRPr lang="en-US"/>
        </a:p>
      </dgm:t>
    </dgm:pt>
    <dgm:pt modelId="{69EA67D4-3082-4990-B8AF-92C3DFA54727}">
      <dgm:prSet/>
      <dgm:spPr/>
      <dgm:t>
        <a:bodyPr/>
        <a:lstStyle/>
        <a:p>
          <a:pPr>
            <a:lnSpc>
              <a:spcPct val="100000"/>
            </a:lnSpc>
          </a:pPr>
          <a:r>
            <a:rPr lang="en-US"/>
            <a:t>Represents the customer, defines the product backlog, prioritizes features based on value. Ensures that the team is delivering value that aligns with business goals.</a:t>
          </a:r>
        </a:p>
      </dgm:t>
    </dgm:pt>
    <dgm:pt modelId="{6701A248-1013-45C7-BBAF-84585782FDAD}" type="parTrans" cxnId="{CE52807A-E0B4-4DEF-8789-DA500651D2BB}">
      <dgm:prSet/>
      <dgm:spPr/>
      <dgm:t>
        <a:bodyPr/>
        <a:lstStyle/>
        <a:p>
          <a:endParaRPr lang="en-US"/>
        </a:p>
      </dgm:t>
    </dgm:pt>
    <dgm:pt modelId="{2AFC6168-4D79-4591-B4B4-8F8D494A2F0E}" type="sibTrans" cxnId="{CE52807A-E0B4-4DEF-8789-DA500651D2BB}">
      <dgm:prSet/>
      <dgm:spPr/>
      <dgm:t>
        <a:bodyPr/>
        <a:lstStyle/>
        <a:p>
          <a:endParaRPr lang="en-US"/>
        </a:p>
      </dgm:t>
    </dgm:pt>
    <dgm:pt modelId="{2100246D-4F9F-42F5-A076-BD225C96B0EE}">
      <dgm:prSet/>
      <dgm:spPr/>
      <dgm:t>
        <a:bodyPr/>
        <a:lstStyle/>
        <a:p>
          <a:pPr>
            <a:lnSpc>
              <a:spcPct val="100000"/>
            </a:lnSpc>
            <a:defRPr b="1"/>
          </a:pPr>
          <a:r>
            <a:rPr lang="en-US" b="1"/>
            <a:t>Scrum Master</a:t>
          </a:r>
          <a:r>
            <a:rPr lang="en-US"/>
            <a:t>:</a:t>
          </a:r>
        </a:p>
      </dgm:t>
    </dgm:pt>
    <dgm:pt modelId="{0E07C349-00C4-458A-9B76-4E927F422DA7}" type="parTrans" cxnId="{EBF198DA-0A19-48CF-B543-BB3A8221589D}">
      <dgm:prSet/>
      <dgm:spPr/>
      <dgm:t>
        <a:bodyPr/>
        <a:lstStyle/>
        <a:p>
          <a:endParaRPr lang="en-US"/>
        </a:p>
      </dgm:t>
    </dgm:pt>
    <dgm:pt modelId="{DCB66568-3DBF-47A2-A442-F0DD1BB29FCE}" type="sibTrans" cxnId="{EBF198DA-0A19-48CF-B543-BB3A8221589D}">
      <dgm:prSet/>
      <dgm:spPr/>
      <dgm:t>
        <a:bodyPr/>
        <a:lstStyle/>
        <a:p>
          <a:endParaRPr lang="en-US"/>
        </a:p>
      </dgm:t>
    </dgm:pt>
    <dgm:pt modelId="{0BE05744-72A0-4930-915E-C48FF462F9DB}">
      <dgm:prSet/>
      <dgm:spPr/>
      <dgm:t>
        <a:bodyPr/>
        <a:lstStyle/>
        <a:p>
          <a:pPr>
            <a:lnSpc>
              <a:spcPct val="100000"/>
            </a:lnSpc>
          </a:pPr>
          <a:r>
            <a:rPr lang="en-US"/>
            <a:t>Facilitates the Scrum process, removes obstacles, and ensures adherence to Agile practices. Supports the team by helping remove roadblocks and fostering a productive environment.</a:t>
          </a:r>
        </a:p>
      </dgm:t>
    </dgm:pt>
    <dgm:pt modelId="{48FEB587-E4AA-422F-9157-53F67F943AC2}" type="parTrans" cxnId="{DFB4508E-5DEF-44E2-8F7F-2B45C9C925E7}">
      <dgm:prSet/>
      <dgm:spPr/>
      <dgm:t>
        <a:bodyPr/>
        <a:lstStyle/>
        <a:p>
          <a:endParaRPr lang="en-US"/>
        </a:p>
      </dgm:t>
    </dgm:pt>
    <dgm:pt modelId="{134C05A4-CE16-46B8-884C-DA39DC76DA3B}" type="sibTrans" cxnId="{DFB4508E-5DEF-44E2-8F7F-2B45C9C925E7}">
      <dgm:prSet/>
      <dgm:spPr/>
      <dgm:t>
        <a:bodyPr/>
        <a:lstStyle/>
        <a:p>
          <a:endParaRPr lang="en-US"/>
        </a:p>
      </dgm:t>
    </dgm:pt>
    <dgm:pt modelId="{678CF335-FAA5-466C-848B-80C22C11E706}">
      <dgm:prSet/>
      <dgm:spPr/>
      <dgm:t>
        <a:bodyPr/>
        <a:lstStyle/>
        <a:p>
          <a:pPr>
            <a:lnSpc>
              <a:spcPct val="100000"/>
            </a:lnSpc>
            <a:defRPr b="1"/>
          </a:pPr>
          <a:r>
            <a:rPr lang="en-US" b="1"/>
            <a:t>Development Team</a:t>
          </a:r>
          <a:r>
            <a:rPr lang="en-US"/>
            <a:t>:</a:t>
          </a:r>
        </a:p>
      </dgm:t>
    </dgm:pt>
    <dgm:pt modelId="{334DA5F7-9658-429D-B956-6F5E161AEAC9}" type="parTrans" cxnId="{9031EA1E-F750-4654-8B05-358DFFA2D5A4}">
      <dgm:prSet/>
      <dgm:spPr/>
      <dgm:t>
        <a:bodyPr/>
        <a:lstStyle/>
        <a:p>
          <a:endParaRPr lang="en-US"/>
        </a:p>
      </dgm:t>
    </dgm:pt>
    <dgm:pt modelId="{7167A221-5085-4621-8113-8E185DBAEBF4}" type="sibTrans" cxnId="{9031EA1E-F750-4654-8B05-358DFFA2D5A4}">
      <dgm:prSet/>
      <dgm:spPr/>
      <dgm:t>
        <a:bodyPr/>
        <a:lstStyle/>
        <a:p>
          <a:endParaRPr lang="en-US"/>
        </a:p>
      </dgm:t>
    </dgm:pt>
    <dgm:pt modelId="{17A7058E-E9A1-4AC1-A233-7291DC6268C4}">
      <dgm:prSet/>
      <dgm:spPr/>
      <dgm:t>
        <a:bodyPr/>
        <a:lstStyle/>
        <a:p>
          <a:pPr>
            <a:lnSpc>
              <a:spcPct val="100000"/>
            </a:lnSpc>
          </a:pPr>
          <a:r>
            <a:rPr lang="en-US"/>
            <a:t>Cross-functional members who do the actual work—designing, coding, testing, etc. Provides the technical expertise and builds the product.</a:t>
          </a:r>
        </a:p>
      </dgm:t>
    </dgm:pt>
    <dgm:pt modelId="{701A07E9-47E4-4FAF-B273-D8A2ABC0357C}" type="parTrans" cxnId="{23F4B7A1-0B90-4780-9940-FD061F017739}">
      <dgm:prSet/>
      <dgm:spPr/>
      <dgm:t>
        <a:bodyPr/>
        <a:lstStyle/>
        <a:p>
          <a:endParaRPr lang="en-US"/>
        </a:p>
      </dgm:t>
    </dgm:pt>
    <dgm:pt modelId="{49C8AB2F-1974-46E1-B100-21D29041EC34}" type="sibTrans" cxnId="{23F4B7A1-0B90-4780-9940-FD061F017739}">
      <dgm:prSet/>
      <dgm:spPr/>
      <dgm:t>
        <a:bodyPr/>
        <a:lstStyle/>
        <a:p>
          <a:endParaRPr lang="en-US"/>
        </a:p>
      </dgm:t>
    </dgm:pt>
    <dgm:pt modelId="{978BDFE4-BE2D-4A9E-9B6C-0695ADE63F46}">
      <dgm:prSet/>
      <dgm:spPr/>
      <dgm:t>
        <a:bodyPr/>
        <a:lstStyle/>
        <a:p>
          <a:pPr>
            <a:lnSpc>
              <a:spcPct val="100000"/>
            </a:lnSpc>
            <a:defRPr b="1"/>
          </a:pPr>
          <a:r>
            <a:rPr lang="en-US" b="1"/>
            <a:t>Stakeholders</a:t>
          </a:r>
          <a:r>
            <a:rPr lang="en-US"/>
            <a:t> (i.e. users, customers):</a:t>
          </a:r>
        </a:p>
      </dgm:t>
    </dgm:pt>
    <dgm:pt modelId="{4F9D095B-FB45-42BC-B09E-886FCEE5D574}" type="parTrans" cxnId="{7C90589E-2ED5-44FE-93E5-6B4A3C6C4274}">
      <dgm:prSet/>
      <dgm:spPr/>
      <dgm:t>
        <a:bodyPr/>
        <a:lstStyle/>
        <a:p>
          <a:endParaRPr lang="en-US"/>
        </a:p>
      </dgm:t>
    </dgm:pt>
    <dgm:pt modelId="{E33852F5-25BF-4B11-ABEF-8C47AD7D08B0}" type="sibTrans" cxnId="{7C90589E-2ED5-44FE-93E5-6B4A3C6C4274}">
      <dgm:prSet/>
      <dgm:spPr/>
      <dgm:t>
        <a:bodyPr/>
        <a:lstStyle/>
        <a:p>
          <a:endParaRPr lang="en-US"/>
        </a:p>
      </dgm:t>
    </dgm:pt>
    <dgm:pt modelId="{96F8ADAF-8019-46DB-AC8A-D3037B8784A2}">
      <dgm:prSet/>
      <dgm:spPr/>
      <dgm:t>
        <a:bodyPr/>
        <a:lstStyle/>
        <a:p>
          <a:pPr>
            <a:lnSpc>
              <a:spcPct val="100000"/>
            </a:lnSpc>
          </a:pPr>
          <a:r>
            <a:rPr lang="en-US"/>
            <a:t>Provide feedback and requirements. Helps guide the team in the right direction through feedback.</a:t>
          </a:r>
        </a:p>
      </dgm:t>
    </dgm:pt>
    <dgm:pt modelId="{9279B5D5-8E09-4DB3-B13D-5DB07A41EC81}" type="parTrans" cxnId="{1CCCD470-F92F-404B-8BF3-20A812E60302}">
      <dgm:prSet/>
      <dgm:spPr/>
      <dgm:t>
        <a:bodyPr/>
        <a:lstStyle/>
        <a:p>
          <a:endParaRPr lang="en-US"/>
        </a:p>
      </dgm:t>
    </dgm:pt>
    <dgm:pt modelId="{50212DC5-359F-4BC4-8204-4C5EFAE090F2}" type="sibTrans" cxnId="{1CCCD470-F92F-404B-8BF3-20A812E60302}">
      <dgm:prSet/>
      <dgm:spPr/>
      <dgm:t>
        <a:bodyPr/>
        <a:lstStyle/>
        <a:p>
          <a:endParaRPr lang="en-US"/>
        </a:p>
      </dgm:t>
    </dgm:pt>
    <dgm:pt modelId="{9252057C-C4AA-4C4B-9D18-FC428A6FB577}">
      <dgm:prSet/>
      <dgm:spPr/>
      <dgm:t>
        <a:bodyPr/>
        <a:lstStyle/>
        <a:p>
          <a:r>
            <a:rPr lang="en-US"/>
            <a:t>Source: </a:t>
          </a:r>
          <a:r>
            <a:rPr lang="en-US" i="1"/>
            <a:t>Schwaber, K. (2004). Agile Project Management with Scrum.</a:t>
          </a:r>
          <a:r>
            <a:rPr lang="en-US"/>
            <a:t> Microsoft Press.</a:t>
          </a:r>
        </a:p>
      </dgm:t>
    </dgm:pt>
    <dgm:pt modelId="{39DAF1C0-2A3F-4F16-A8A2-BA266A92C677}" type="parTrans" cxnId="{D53C5A6F-715C-42E2-A6AC-492A00B73C93}">
      <dgm:prSet/>
      <dgm:spPr/>
      <dgm:t>
        <a:bodyPr/>
        <a:lstStyle/>
        <a:p>
          <a:endParaRPr lang="en-US"/>
        </a:p>
      </dgm:t>
    </dgm:pt>
    <dgm:pt modelId="{587CA664-1AB3-40C5-B6AB-AC9FE809D434}" type="sibTrans" cxnId="{D53C5A6F-715C-42E2-A6AC-492A00B73C93}">
      <dgm:prSet/>
      <dgm:spPr/>
      <dgm:t>
        <a:bodyPr/>
        <a:lstStyle/>
        <a:p>
          <a:endParaRPr lang="en-US"/>
        </a:p>
      </dgm:t>
    </dgm:pt>
    <dgm:pt modelId="{9F846F54-E2C5-4C0A-BC80-3801CB890CF6}" type="pres">
      <dgm:prSet presAssocID="{2A6C7D81-7B10-46EE-96A1-A9230112A3F5}" presName="root" presStyleCnt="0">
        <dgm:presLayoutVars>
          <dgm:dir/>
          <dgm:resizeHandles val="exact"/>
        </dgm:presLayoutVars>
      </dgm:prSet>
      <dgm:spPr/>
    </dgm:pt>
    <dgm:pt modelId="{4076B9CC-E886-46FE-9F00-9F9B9E333363}" type="pres">
      <dgm:prSet presAssocID="{86727ECE-404A-4825-88D7-D01276C1750F}" presName="compNode" presStyleCnt="0"/>
      <dgm:spPr/>
    </dgm:pt>
    <dgm:pt modelId="{A61DB028-C0B7-4BA0-804F-38F560D1C6D3}" type="pres">
      <dgm:prSet presAssocID="{86727ECE-404A-4825-88D7-D01276C1750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18F1CED5-5876-4AD7-B110-E1C29B9ED76A}" type="pres">
      <dgm:prSet presAssocID="{86727ECE-404A-4825-88D7-D01276C1750F}" presName="iconSpace" presStyleCnt="0"/>
      <dgm:spPr/>
    </dgm:pt>
    <dgm:pt modelId="{F66B7DDA-A041-4814-A4C8-7374E2C35072}" type="pres">
      <dgm:prSet presAssocID="{86727ECE-404A-4825-88D7-D01276C1750F}" presName="parTx" presStyleLbl="revTx" presStyleIdx="0" presStyleCnt="8">
        <dgm:presLayoutVars>
          <dgm:chMax val="0"/>
          <dgm:chPref val="0"/>
        </dgm:presLayoutVars>
      </dgm:prSet>
      <dgm:spPr/>
    </dgm:pt>
    <dgm:pt modelId="{32C84EA6-DC41-486E-A349-A13F24A5ABED}" type="pres">
      <dgm:prSet presAssocID="{86727ECE-404A-4825-88D7-D01276C1750F}" presName="txSpace" presStyleCnt="0"/>
      <dgm:spPr/>
    </dgm:pt>
    <dgm:pt modelId="{4ABA27E5-9721-4E29-8E68-39AD819FD661}" type="pres">
      <dgm:prSet presAssocID="{86727ECE-404A-4825-88D7-D01276C1750F}" presName="desTx" presStyleLbl="revTx" presStyleIdx="1" presStyleCnt="8">
        <dgm:presLayoutVars/>
      </dgm:prSet>
      <dgm:spPr/>
    </dgm:pt>
    <dgm:pt modelId="{4D53E0F5-15EF-44A8-A346-25EB4C6C2FBF}" type="pres">
      <dgm:prSet presAssocID="{36F4F457-D3D3-4CCF-AFB5-6B163D584430}" presName="sibTrans" presStyleCnt="0"/>
      <dgm:spPr/>
    </dgm:pt>
    <dgm:pt modelId="{D3FE82B6-A082-4F42-A731-1FFFD5B6D212}" type="pres">
      <dgm:prSet presAssocID="{2100246D-4F9F-42F5-A076-BD225C96B0EE}" presName="compNode" presStyleCnt="0"/>
      <dgm:spPr/>
    </dgm:pt>
    <dgm:pt modelId="{EC97E24B-DE94-4E8D-9D22-CD63FAAAE92E}" type="pres">
      <dgm:prSet presAssocID="{2100246D-4F9F-42F5-A076-BD225C96B0E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nching Diagram"/>
        </a:ext>
      </dgm:extLst>
    </dgm:pt>
    <dgm:pt modelId="{5B0639D2-8FF8-4870-BC79-8643A15C7362}" type="pres">
      <dgm:prSet presAssocID="{2100246D-4F9F-42F5-A076-BD225C96B0EE}" presName="iconSpace" presStyleCnt="0"/>
      <dgm:spPr/>
    </dgm:pt>
    <dgm:pt modelId="{A4A082F8-7483-4CE1-9484-5C9D06AC7E6E}" type="pres">
      <dgm:prSet presAssocID="{2100246D-4F9F-42F5-A076-BD225C96B0EE}" presName="parTx" presStyleLbl="revTx" presStyleIdx="2" presStyleCnt="8">
        <dgm:presLayoutVars>
          <dgm:chMax val="0"/>
          <dgm:chPref val="0"/>
        </dgm:presLayoutVars>
      </dgm:prSet>
      <dgm:spPr/>
    </dgm:pt>
    <dgm:pt modelId="{5FD082A9-3867-4516-8C5F-9FFBFF131F5E}" type="pres">
      <dgm:prSet presAssocID="{2100246D-4F9F-42F5-A076-BD225C96B0EE}" presName="txSpace" presStyleCnt="0"/>
      <dgm:spPr/>
    </dgm:pt>
    <dgm:pt modelId="{03AED2E0-C802-4F88-8E31-84AE2A72EF34}" type="pres">
      <dgm:prSet presAssocID="{2100246D-4F9F-42F5-A076-BD225C96B0EE}" presName="desTx" presStyleLbl="revTx" presStyleIdx="3" presStyleCnt="8">
        <dgm:presLayoutVars/>
      </dgm:prSet>
      <dgm:spPr/>
    </dgm:pt>
    <dgm:pt modelId="{319A911E-AF51-4DFA-9408-FFEBCEAE3BC0}" type="pres">
      <dgm:prSet presAssocID="{DCB66568-3DBF-47A2-A442-F0DD1BB29FCE}" presName="sibTrans" presStyleCnt="0"/>
      <dgm:spPr/>
    </dgm:pt>
    <dgm:pt modelId="{9DA00378-66A6-4EDC-8F33-273DE2ADB7F3}" type="pres">
      <dgm:prSet presAssocID="{678CF335-FAA5-466C-848B-80C22C11E706}" presName="compNode" presStyleCnt="0"/>
      <dgm:spPr/>
    </dgm:pt>
    <dgm:pt modelId="{4ED74C3F-53A9-493B-97B9-80E6B3DC8839}" type="pres">
      <dgm:prSet presAssocID="{678CF335-FAA5-466C-848B-80C22C11E70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Arrow Circle"/>
        </a:ext>
      </dgm:extLst>
    </dgm:pt>
    <dgm:pt modelId="{E41D87A3-E88F-4F48-961C-8ECB4A41C3BB}" type="pres">
      <dgm:prSet presAssocID="{678CF335-FAA5-466C-848B-80C22C11E706}" presName="iconSpace" presStyleCnt="0"/>
      <dgm:spPr/>
    </dgm:pt>
    <dgm:pt modelId="{3E6D7B23-672C-4ADE-B750-F2EA157293BC}" type="pres">
      <dgm:prSet presAssocID="{678CF335-FAA5-466C-848B-80C22C11E706}" presName="parTx" presStyleLbl="revTx" presStyleIdx="4" presStyleCnt="8">
        <dgm:presLayoutVars>
          <dgm:chMax val="0"/>
          <dgm:chPref val="0"/>
        </dgm:presLayoutVars>
      </dgm:prSet>
      <dgm:spPr/>
    </dgm:pt>
    <dgm:pt modelId="{E83EE0FC-507B-4B1C-95FA-EAE012ED1358}" type="pres">
      <dgm:prSet presAssocID="{678CF335-FAA5-466C-848B-80C22C11E706}" presName="txSpace" presStyleCnt="0"/>
      <dgm:spPr/>
    </dgm:pt>
    <dgm:pt modelId="{F76CC86E-220C-4047-AE8B-6DF7F53D7524}" type="pres">
      <dgm:prSet presAssocID="{678CF335-FAA5-466C-848B-80C22C11E706}" presName="desTx" presStyleLbl="revTx" presStyleIdx="5" presStyleCnt="8">
        <dgm:presLayoutVars/>
      </dgm:prSet>
      <dgm:spPr/>
    </dgm:pt>
    <dgm:pt modelId="{45929462-C9D0-4B09-A245-233B5490F637}" type="pres">
      <dgm:prSet presAssocID="{7167A221-5085-4621-8113-8E185DBAEBF4}" presName="sibTrans" presStyleCnt="0"/>
      <dgm:spPr/>
    </dgm:pt>
    <dgm:pt modelId="{F3FA5CAE-5EE2-41BC-A785-AD8E526CD23D}" type="pres">
      <dgm:prSet presAssocID="{978BDFE4-BE2D-4A9E-9B6C-0695ADE63F46}" presName="compNode" presStyleCnt="0"/>
      <dgm:spPr/>
    </dgm:pt>
    <dgm:pt modelId="{7A33CF46-6EA7-42D5-B322-8F9E9B8F7ED0}" type="pres">
      <dgm:prSet presAssocID="{978BDFE4-BE2D-4A9E-9B6C-0695ADE63F4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ocial Network"/>
        </a:ext>
      </dgm:extLst>
    </dgm:pt>
    <dgm:pt modelId="{AC12B20A-A48D-472C-8198-B31E81B55CE8}" type="pres">
      <dgm:prSet presAssocID="{978BDFE4-BE2D-4A9E-9B6C-0695ADE63F46}" presName="iconSpace" presStyleCnt="0"/>
      <dgm:spPr/>
    </dgm:pt>
    <dgm:pt modelId="{D4888095-D05C-4D30-84B8-4E6F47A36EDD}" type="pres">
      <dgm:prSet presAssocID="{978BDFE4-BE2D-4A9E-9B6C-0695ADE63F46}" presName="parTx" presStyleLbl="revTx" presStyleIdx="6" presStyleCnt="8">
        <dgm:presLayoutVars>
          <dgm:chMax val="0"/>
          <dgm:chPref val="0"/>
        </dgm:presLayoutVars>
      </dgm:prSet>
      <dgm:spPr/>
    </dgm:pt>
    <dgm:pt modelId="{DEAEF8FB-8F11-4EF8-9289-ABD8B1E18900}" type="pres">
      <dgm:prSet presAssocID="{978BDFE4-BE2D-4A9E-9B6C-0695ADE63F46}" presName="txSpace" presStyleCnt="0"/>
      <dgm:spPr/>
    </dgm:pt>
    <dgm:pt modelId="{7F8865B3-15B6-4DDE-9CE1-2830E3853F69}" type="pres">
      <dgm:prSet presAssocID="{978BDFE4-BE2D-4A9E-9B6C-0695ADE63F46}" presName="desTx" presStyleLbl="revTx" presStyleIdx="7" presStyleCnt="8">
        <dgm:presLayoutVars/>
      </dgm:prSet>
      <dgm:spPr/>
    </dgm:pt>
  </dgm:ptLst>
  <dgm:cxnLst>
    <dgm:cxn modelId="{9031EA1E-F750-4654-8B05-358DFFA2D5A4}" srcId="{2A6C7D81-7B10-46EE-96A1-A9230112A3F5}" destId="{678CF335-FAA5-466C-848B-80C22C11E706}" srcOrd="2" destOrd="0" parTransId="{334DA5F7-9658-429D-B956-6F5E161AEAC9}" sibTransId="{7167A221-5085-4621-8113-8E185DBAEBF4}"/>
    <dgm:cxn modelId="{5BFFDE1F-9275-4819-9D29-0BEFD76F7F56}" type="presOf" srcId="{0BE05744-72A0-4930-915E-C48FF462F9DB}" destId="{03AED2E0-C802-4F88-8E31-84AE2A72EF34}" srcOrd="0" destOrd="0" presId="urn:microsoft.com/office/officeart/2018/5/layout/CenteredIconLabelDescriptionList"/>
    <dgm:cxn modelId="{7BCCA25F-5193-4CD0-B82F-72C039BC0105}" type="presOf" srcId="{96F8ADAF-8019-46DB-AC8A-D3037B8784A2}" destId="{7F8865B3-15B6-4DDE-9CE1-2830E3853F69}" srcOrd="0" destOrd="0" presId="urn:microsoft.com/office/officeart/2018/5/layout/CenteredIconLabelDescriptionList"/>
    <dgm:cxn modelId="{D53C5A6F-715C-42E2-A6AC-492A00B73C93}" srcId="{96F8ADAF-8019-46DB-AC8A-D3037B8784A2}" destId="{9252057C-C4AA-4C4B-9D18-FC428A6FB577}" srcOrd="0" destOrd="0" parTransId="{39DAF1C0-2A3F-4F16-A8A2-BA266A92C677}" sibTransId="{587CA664-1AB3-40C5-B6AB-AC9FE809D434}"/>
    <dgm:cxn modelId="{1CCCD470-F92F-404B-8BF3-20A812E60302}" srcId="{978BDFE4-BE2D-4A9E-9B6C-0695ADE63F46}" destId="{96F8ADAF-8019-46DB-AC8A-D3037B8784A2}" srcOrd="0" destOrd="0" parTransId="{9279B5D5-8E09-4DB3-B13D-5DB07A41EC81}" sibTransId="{50212DC5-359F-4BC4-8204-4C5EFAE090F2}"/>
    <dgm:cxn modelId="{5478EC70-4972-4F4B-8B38-9DB54660E76D}" type="presOf" srcId="{9252057C-C4AA-4C4B-9D18-FC428A6FB577}" destId="{7F8865B3-15B6-4DDE-9CE1-2830E3853F69}" srcOrd="0" destOrd="1" presId="urn:microsoft.com/office/officeart/2018/5/layout/CenteredIconLabelDescriptionList"/>
    <dgm:cxn modelId="{1A887179-5B7B-4A23-9189-E044ECD19CAD}" type="presOf" srcId="{17A7058E-E9A1-4AC1-A233-7291DC6268C4}" destId="{F76CC86E-220C-4047-AE8B-6DF7F53D7524}" srcOrd="0" destOrd="0" presId="urn:microsoft.com/office/officeart/2018/5/layout/CenteredIconLabelDescriptionList"/>
    <dgm:cxn modelId="{CE52807A-E0B4-4DEF-8789-DA500651D2BB}" srcId="{86727ECE-404A-4825-88D7-D01276C1750F}" destId="{69EA67D4-3082-4990-B8AF-92C3DFA54727}" srcOrd="0" destOrd="0" parTransId="{6701A248-1013-45C7-BBAF-84585782FDAD}" sibTransId="{2AFC6168-4D79-4591-B4B4-8F8D494A2F0E}"/>
    <dgm:cxn modelId="{A2AED57D-666A-4920-BC89-27DEFE9AF7DA}" type="presOf" srcId="{69EA67D4-3082-4990-B8AF-92C3DFA54727}" destId="{4ABA27E5-9721-4E29-8E68-39AD819FD661}" srcOrd="0" destOrd="0" presId="urn:microsoft.com/office/officeart/2018/5/layout/CenteredIconLabelDescriptionList"/>
    <dgm:cxn modelId="{DFB4508E-5DEF-44E2-8F7F-2B45C9C925E7}" srcId="{2100246D-4F9F-42F5-A076-BD225C96B0EE}" destId="{0BE05744-72A0-4930-915E-C48FF462F9DB}" srcOrd="0" destOrd="0" parTransId="{48FEB587-E4AA-422F-9157-53F67F943AC2}" sibTransId="{134C05A4-CE16-46B8-884C-DA39DC76DA3B}"/>
    <dgm:cxn modelId="{A9325C90-6735-4B69-A00E-F1FE506A429B}" type="presOf" srcId="{86727ECE-404A-4825-88D7-D01276C1750F}" destId="{F66B7DDA-A041-4814-A4C8-7374E2C35072}" srcOrd="0" destOrd="0" presId="urn:microsoft.com/office/officeart/2018/5/layout/CenteredIconLabelDescriptionList"/>
    <dgm:cxn modelId="{C9FF139B-EED9-4C77-B344-527517FCA842}" type="presOf" srcId="{978BDFE4-BE2D-4A9E-9B6C-0695ADE63F46}" destId="{D4888095-D05C-4D30-84B8-4E6F47A36EDD}" srcOrd="0" destOrd="0" presId="urn:microsoft.com/office/officeart/2018/5/layout/CenteredIconLabelDescriptionList"/>
    <dgm:cxn modelId="{7C90589E-2ED5-44FE-93E5-6B4A3C6C4274}" srcId="{2A6C7D81-7B10-46EE-96A1-A9230112A3F5}" destId="{978BDFE4-BE2D-4A9E-9B6C-0695ADE63F46}" srcOrd="3" destOrd="0" parTransId="{4F9D095B-FB45-42BC-B09E-886FCEE5D574}" sibTransId="{E33852F5-25BF-4B11-ABEF-8C47AD7D08B0}"/>
    <dgm:cxn modelId="{23F4B7A1-0B90-4780-9940-FD061F017739}" srcId="{678CF335-FAA5-466C-848B-80C22C11E706}" destId="{17A7058E-E9A1-4AC1-A233-7291DC6268C4}" srcOrd="0" destOrd="0" parTransId="{701A07E9-47E4-4FAF-B273-D8A2ABC0357C}" sibTransId="{49C8AB2F-1974-46E1-B100-21D29041EC34}"/>
    <dgm:cxn modelId="{B0D26DB3-63F4-43E6-9B40-63643DA78372}" type="presOf" srcId="{2A6C7D81-7B10-46EE-96A1-A9230112A3F5}" destId="{9F846F54-E2C5-4C0A-BC80-3801CB890CF6}" srcOrd="0" destOrd="0" presId="urn:microsoft.com/office/officeart/2018/5/layout/CenteredIconLabelDescriptionList"/>
    <dgm:cxn modelId="{C2EF78CC-2A1B-43F9-8660-363A52231DBC}" srcId="{2A6C7D81-7B10-46EE-96A1-A9230112A3F5}" destId="{86727ECE-404A-4825-88D7-D01276C1750F}" srcOrd="0" destOrd="0" parTransId="{BFDA92D2-6E30-40FA-AE9B-60C96A551296}" sibTransId="{36F4F457-D3D3-4CCF-AFB5-6B163D584430}"/>
    <dgm:cxn modelId="{EBF198DA-0A19-48CF-B543-BB3A8221589D}" srcId="{2A6C7D81-7B10-46EE-96A1-A9230112A3F5}" destId="{2100246D-4F9F-42F5-A076-BD225C96B0EE}" srcOrd="1" destOrd="0" parTransId="{0E07C349-00C4-458A-9B76-4E927F422DA7}" sibTransId="{DCB66568-3DBF-47A2-A442-F0DD1BB29FCE}"/>
    <dgm:cxn modelId="{EFCE4DDC-3B3B-4DFD-95AE-0877501ECB75}" type="presOf" srcId="{678CF335-FAA5-466C-848B-80C22C11E706}" destId="{3E6D7B23-672C-4ADE-B750-F2EA157293BC}" srcOrd="0" destOrd="0" presId="urn:microsoft.com/office/officeart/2018/5/layout/CenteredIconLabelDescriptionList"/>
    <dgm:cxn modelId="{CF1F08EF-0A48-41A5-B5D3-A0CBA66843DA}" type="presOf" srcId="{2100246D-4F9F-42F5-A076-BD225C96B0EE}" destId="{A4A082F8-7483-4CE1-9484-5C9D06AC7E6E}" srcOrd="0" destOrd="0" presId="urn:microsoft.com/office/officeart/2018/5/layout/CenteredIconLabelDescriptionList"/>
    <dgm:cxn modelId="{9CCA168B-56AB-4B86-A59D-AF13616D4A92}" type="presParOf" srcId="{9F846F54-E2C5-4C0A-BC80-3801CB890CF6}" destId="{4076B9CC-E886-46FE-9F00-9F9B9E333363}" srcOrd="0" destOrd="0" presId="urn:microsoft.com/office/officeart/2018/5/layout/CenteredIconLabelDescriptionList"/>
    <dgm:cxn modelId="{EAD14E69-2FE1-4963-BAE1-AFE12419F68E}" type="presParOf" srcId="{4076B9CC-E886-46FE-9F00-9F9B9E333363}" destId="{A61DB028-C0B7-4BA0-804F-38F560D1C6D3}" srcOrd="0" destOrd="0" presId="urn:microsoft.com/office/officeart/2018/5/layout/CenteredIconLabelDescriptionList"/>
    <dgm:cxn modelId="{14586F05-3E52-45C1-B3A8-65D66457639B}" type="presParOf" srcId="{4076B9CC-E886-46FE-9F00-9F9B9E333363}" destId="{18F1CED5-5876-4AD7-B110-E1C29B9ED76A}" srcOrd="1" destOrd="0" presId="urn:microsoft.com/office/officeart/2018/5/layout/CenteredIconLabelDescriptionList"/>
    <dgm:cxn modelId="{A9A40CDF-1648-43B0-ADC8-653E01E439F8}" type="presParOf" srcId="{4076B9CC-E886-46FE-9F00-9F9B9E333363}" destId="{F66B7DDA-A041-4814-A4C8-7374E2C35072}" srcOrd="2" destOrd="0" presId="urn:microsoft.com/office/officeart/2018/5/layout/CenteredIconLabelDescriptionList"/>
    <dgm:cxn modelId="{310A441B-561F-4133-ADBB-03C7894BDA68}" type="presParOf" srcId="{4076B9CC-E886-46FE-9F00-9F9B9E333363}" destId="{32C84EA6-DC41-486E-A349-A13F24A5ABED}" srcOrd="3" destOrd="0" presId="urn:microsoft.com/office/officeart/2018/5/layout/CenteredIconLabelDescriptionList"/>
    <dgm:cxn modelId="{BB3D9573-C3B5-4C78-80D8-5B801F77B3DD}" type="presParOf" srcId="{4076B9CC-E886-46FE-9F00-9F9B9E333363}" destId="{4ABA27E5-9721-4E29-8E68-39AD819FD661}" srcOrd="4" destOrd="0" presId="urn:microsoft.com/office/officeart/2018/5/layout/CenteredIconLabelDescriptionList"/>
    <dgm:cxn modelId="{7A461A12-AC79-4600-A8FF-5AC9E14CC903}" type="presParOf" srcId="{9F846F54-E2C5-4C0A-BC80-3801CB890CF6}" destId="{4D53E0F5-15EF-44A8-A346-25EB4C6C2FBF}" srcOrd="1" destOrd="0" presId="urn:microsoft.com/office/officeart/2018/5/layout/CenteredIconLabelDescriptionList"/>
    <dgm:cxn modelId="{3520C9B5-9C0E-467D-A82D-1AAAF649741D}" type="presParOf" srcId="{9F846F54-E2C5-4C0A-BC80-3801CB890CF6}" destId="{D3FE82B6-A082-4F42-A731-1FFFD5B6D212}" srcOrd="2" destOrd="0" presId="urn:microsoft.com/office/officeart/2018/5/layout/CenteredIconLabelDescriptionList"/>
    <dgm:cxn modelId="{D149392C-DBB2-4CAB-A71C-1E3E68193FA1}" type="presParOf" srcId="{D3FE82B6-A082-4F42-A731-1FFFD5B6D212}" destId="{EC97E24B-DE94-4E8D-9D22-CD63FAAAE92E}" srcOrd="0" destOrd="0" presId="urn:microsoft.com/office/officeart/2018/5/layout/CenteredIconLabelDescriptionList"/>
    <dgm:cxn modelId="{B73A8788-105B-436E-8572-2CA32B0DFD30}" type="presParOf" srcId="{D3FE82B6-A082-4F42-A731-1FFFD5B6D212}" destId="{5B0639D2-8FF8-4870-BC79-8643A15C7362}" srcOrd="1" destOrd="0" presId="urn:microsoft.com/office/officeart/2018/5/layout/CenteredIconLabelDescriptionList"/>
    <dgm:cxn modelId="{E76FC695-A4D6-449B-B707-6D92F283B800}" type="presParOf" srcId="{D3FE82B6-A082-4F42-A731-1FFFD5B6D212}" destId="{A4A082F8-7483-4CE1-9484-5C9D06AC7E6E}" srcOrd="2" destOrd="0" presId="urn:microsoft.com/office/officeart/2018/5/layout/CenteredIconLabelDescriptionList"/>
    <dgm:cxn modelId="{28C01B56-BB51-46B3-BF82-DADCF3223752}" type="presParOf" srcId="{D3FE82B6-A082-4F42-A731-1FFFD5B6D212}" destId="{5FD082A9-3867-4516-8C5F-9FFBFF131F5E}" srcOrd="3" destOrd="0" presId="urn:microsoft.com/office/officeart/2018/5/layout/CenteredIconLabelDescriptionList"/>
    <dgm:cxn modelId="{9D7D47FA-2B77-4781-BE17-788F093D89E2}" type="presParOf" srcId="{D3FE82B6-A082-4F42-A731-1FFFD5B6D212}" destId="{03AED2E0-C802-4F88-8E31-84AE2A72EF34}" srcOrd="4" destOrd="0" presId="urn:microsoft.com/office/officeart/2018/5/layout/CenteredIconLabelDescriptionList"/>
    <dgm:cxn modelId="{055A9385-B8E8-4D58-BC04-395F2A9C1509}" type="presParOf" srcId="{9F846F54-E2C5-4C0A-BC80-3801CB890CF6}" destId="{319A911E-AF51-4DFA-9408-FFEBCEAE3BC0}" srcOrd="3" destOrd="0" presId="urn:microsoft.com/office/officeart/2018/5/layout/CenteredIconLabelDescriptionList"/>
    <dgm:cxn modelId="{CDB760EB-7E51-44FF-A42B-C39A540762AE}" type="presParOf" srcId="{9F846F54-E2C5-4C0A-BC80-3801CB890CF6}" destId="{9DA00378-66A6-4EDC-8F33-273DE2ADB7F3}" srcOrd="4" destOrd="0" presId="urn:microsoft.com/office/officeart/2018/5/layout/CenteredIconLabelDescriptionList"/>
    <dgm:cxn modelId="{4B6BA792-B7B4-4DBA-B937-F44553D59722}" type="presParOf" srcId="{9DA00378-66A6-4EDC-8F33-273DE2ADB7F3}" destId="{4ED74C3F-53A9-493B-97B9-80E6B3DC8839}" srcOrd="0" destOrd="0" presId="urn:microsoft.com/office/officeart/2018/5/layout/CenteredIconLabelDescriptionList"/>
    <dgm:cxn modelId="{A5CBE42D-D4BD-45E3-A3F5-C23E07707D14}" type="presParOf" srcId="{9DA00378-66A6-4EDC-8F33-273DE2ADB7F3}" destId="{E41D87A3-E88F-4F48-961C-8ECB4A41C3BB}" srcOrd="1" destOrd="0" presId="urn:microsoft.com/office/officeart/2018/5/layout/CenteredIconLabelDescriptionList"/>
    <dgm:cxn modelId="{7BF57D1A-66F4-4C7C-9D09-055277F670BA}" type="presParOf" srcId="{9DA00378-66A6-4EDC-8F33-273DE2ADB7F3}" destId="{3E6D7B23-672C-4ADE-B750-F2EA157293BC}" srcOrd="2" destOrd="0" presId="urn:microsoft.com/office/officeart/2018/5/layout/CenteredIconLabelDescriptionList"/>
    <dgm:cxn modelId="{E6131D06-3608-4159-A6D9-6B2022890A6F}" type="presParOf" srcId="{9DA00378-66A6-4EDC-8F33-273DE2ADB7F3}" destId="{E83EE0FC-507B-4B1C-95FA-EAE012ED1358}" srcOrd="3" destOrd="0" presId="urn:microsoft.com/office/officeart/2018/5/layout/CenteredIconLabelDescriptionList"/>
    <dgm:cxn modelId="{B506B6B9-D16B-4EF1-B60E-93C7E9A308E1}" type="presParOf" srcId="{9DA00378-66A6-4EDC-8F33-273DE2ADB7F3}" destId="{F76CC86E-220C-4047-AE8B-6DF7F53D7524}" srcOrd="4" destOrd="0" presId="urn:microsoft.com/office/officeart/2018/5/layout/CenteredIconLabelDescriptionList"/>
    <dgm:cxn modelId="{69A7A561-F39F-4C36-9103-C69CA2F6685C}" type="presParOf" srcId="{9F846F54-E2C5-4C0A-BC80-3801CB890CF6}" destId="{45929462-C9D0-4B09-A245-233B5490F637}" srcOrd="5" destOrd="0" presId="urn:microsoft.com/office/officeart/2018/5/layout/CenteredIconLabelDescriptionList"/>
    <dgm:cxn modelId="{DE404D6C-9B46-47CC-847C-0E8B776D1E97}" type="presParOf" srcId="{9F846F54-E2C5-4C0A-BC80-3801CB890CF6}" destId="{F3FA5CAE-5EE2-41BC-A785-AD8E526CD23D}" srcOrd="6" destOrd="0" presId="urn:microsoft.com/office/officeart/2018/5/layout/CenteredIconLabelDescriptionList"/>
    <dgm:cxn modelId="{0D94B604-E54E-4C65-B46E-CD5244AF7673}" type="presParOf" srcId="{F3FA5CAE-5EE2-41BC-A785-AD8E526CD23D}" destId="{7A33CF46-6EA7-42D5-B322-8F9E9B8F7ED0}" srcOrd="0" destOrd="0" presId="urn:microsoft.com/office/officeart/2018/5/layout/CenteredIconLabelDescriptionList"/>
    <dgm:cxn modelId="{6B9AAADF-3FED-4D24-BAF3-93306FFF79E6}" type="presParOf" srcId="{F3FA5CAE-5EE2-41BC-A785-AD8E526CD23D}" destId="{AC12B20A-A48D-472C-8198-B31E81B55CE8}" srcOrd="1" destOrd="0" presId="urn:microsoft.com/office/officeart/2018/5/layout/CenteredIconLabelDescriptionList"/>
    <dgm:cxn modelId="{BE7697AC-4B0F-444B-B3DB-291DB26F8DE9}" type="presParOf" srcId="{F3FA5CAE-5EE2-41BC-A785-AD8E526CD23D}" destId="{D4888095-D05C-4D30-84B8-4E6F47A36EDD}" srcOrd="2" destOrd="0" presId="urn:microsoft.com/office/officeart/2018/5/layout/CenteredIconLabelDescriptionList"/>
    <dgm:cxn modelId="{48D3F637-80CE-436F-9EC1-9663AC7B1764}" type="presParOf" srcId="{F3FA5CAE-5EE2-41BC-A785-AD8E526CD23D}" destId="{DEAEF8FB-8F11-4EF8-9289-ABD8B1E18900}" srcOrd="3" destOrd="0" presId="urn:microsoft.com/office/officeart/2018/5/layout/CenteredIconLabelDescriptionList"/>
    <dgm:cxn modelId="{44439667-94B7-4DD4-9E57-118AEBB7D45B}" type="presParOf" srcId="{F3FA5CAE-5EE2-41BC-A785-AD8E526CD23D}" destId="{7F8865B3-15B6-4DDE-9CE1-2830E3853F69}"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921735-210C-44DB-9400-FF7FE626929D}" type="doc">
      <dgm:prSet loTypeId="urn:microsoft.com/office/officeart/2016/7/layout/VerticalDownArrowProcess" loCatId="process" qsTypeId="urn:microsoft.com/office/officeart/2005/8/quickstyle/simple1" qsCatId="simple" csTypeId="urn:microsoft.com/office/officeart/2005/8/colors/accent1_2" csCatId="accent1"/>
      <dgm:spPr/>
      <dgm:t>
        <a:bodyPr/>
        <a:lstStyle/>
        <a:p>
          <a:endParaRPr lang="en-US"/>
        </a:p>
      </dgm:t>
    </dgm:pt>
    <dgm:pt modelId="{04967009-6F26-4EE6-8820-EF14257C152C}">
      <dgm:prSet/>
      <dgm:spPr/>
      <dgm:t>
        <a:bodyPr/>
        <a:lstStyle/>
        <a:p>
          <a:r>
            <a:rPr lang="en-US"/>
            <a:t>Planning</a:t>
          </a:r>
        </a:p>
      </dgm:t>
    </dgm:pt>
    <dgm:pt modelId="{D9BB8119-C688-42AC-8A5F-40C45DC1745D}" type="parTrans" cxnId="{32A867B8-18E8-43D0-8D99-462F29250872}">
      <dgm:prSet/>
      <dgm:spPr/>
      <dgm:t>
        <a:bodyPr/>
        <a:lstStyle/>
        <a:p>
          <a:endParaRPr lang="en-US"/>
        </a:p>
      </dgm:t>
    </dgm:pt>
    <dgm:pt modelId="{0CAE83F5-3BBC-47BD-A9C2-A08C60CDF663}" type="sibTrans" cxnId="{32A867B8-18E8-43D0-8D99-462F29250872}">
      <dgm:prSet/>
      <dgm:spPr/>
      <dgm:t>
        <a:bodyPr/>
        <a:lstStyle/>
        <a:p>
          <a:endParaRPr lang="en-US"/>
        </a:p>
      </dgm:t>
    </dgm:pt>
    <dgm:pt modelId="{BED635DC-44E8-4BA8-98B6-2B055AC65A6D}">
      <dgm:prSet/>
      <dgm:spPr/>
      <dgm:t>
        <a:bodyPr/>
        <a:lstStyle/>
        <a:p>
          <a:r>
            <a:rPr lang="en-US"/>
            <a:t>Sprint Planning:</a:t>
          </a:r>
        </a:p>
      </dgm:t>
    </dgm:pt>
    <dgm:pt modelId="{20A93D9E-7FAD-45F8-B22C-9FA9231DF15A}" type="parTrans" cxnId="{D3B50D1A-8737-4273-9A42-F89BE9E41FD3}">
      <dgm:prSet/>
      <dgm:spPr/>
      <dgm:t>
        <a:bodyPr/>
        <a:lstStyle/>
        <a:p>
          <a:endParaRPr lang="en-US"/>
        </a:p>
      </dgm:t>
    </dgm:pt>
    <dgm:pt modelId="{225FF55B-C425-47A2-BEA1-79D18A3AC913}" type="sibTrans" cxnId="{D3B50D1A-8737-4273-9A42-F89BE9E41FD3}">
      <dgm:prSet/>
      <dgm:spPr/>
      <dgm:t>
        <a:bodyPr/>
        <a:lstStyle/>
        <a:p>
          <a:endParaRPr lang="en-US"/>
        </a:p>
      </dgm:t>
    </dgm:pt>
    <dgm:pt modelId="{68FC0CEE-1231-4B14-9314-9231B6D3FE11}">
      <dgm:prSet/>
      <dgm:spPr/>
      <dgm:t>
        <a:bodyPr/>
        <a:lstStyle/>
        <a:p>
          <a:r>
            <a:rPr lang="en-US"/>
            <a:t>The team and Product Owner agree on the sprint goals and backlog items. Establishes a clear direction for the sprint.</a:t>
          </a:r>
        </a:p>
      </dgm:t>
    </dgm:pt>
    <dgm:pt modelId="{7199DA9F-39FC-4711-9CF2-3CFA080508D7}" type="parTrans" cxnId="{C92ED104-598E-40BC-8B9B-E756C05F477E}">
      <dgm:prSet/>
      <dgm:spPr/>
      <dgm:t>
        <a:bodyPr/>
        <a:lstStyle/>
        <a:p>
          <a:endParaRPr lang="en-US"/>
        </a:p>
      </dgm:t>
    </dgm:pt>
    <dgm:pt modelId="{E9C8CA00-B104-45CA-BDEE-583927CB643E}" type="sibTrans" cxnId="{C92ED104-598E-40BC-8B9B-E756C05F477E}">
      <dgm:prSet/>
      <dgm:spPr/>
      <dgm:t>
        <a:bodyPr/>
        <a:lstStyle/>
        <a:p>
          <a:endParaRPr lang="en-US"/>
        </a:p>
      </dgm:t>
    </dgm:pt>
    <dgm:pt modelId="{6E37E85F-C2A1-4E08-B5AC-EEAA50041BEB}">
      <dgm:prSet/>
      <dgm:spPr/>
      <dgm:t>
        <a:bodyPr/>
        <a:lstStyle/>
        <a:p>
          <a:r>
            <a:rPr lang="en-US"/>
            <a:t>Sprint</a:t>
          </a:r>
        </a:p>
      </dgm:t>
    </dgm:pt>
    <dgm:pt modelId="{E3CE167C-2ECF-4BA8-A75F-72C1B042BD31}" type="parTrans" cxnId="{C222FECB-F611-45CA-BC5A-27AAE9561A56}">
      <dgm:prSet/>
      <dgm:spPr/>
      <dgm:t>
        <a:bodyPr/>
        <a:lstStyle/>
        <a:p>
          <a:endParaRPr lang="en-US"/>
        </a:p>
      </dgm:t>
    </dgm:pt>
    <dgm:pt modelId="{AF4ED8B4-C109-429E-921A-E0E0727DAD92}" type="sibTrans" cxnId="{C222FECB-F611-45CA-BC5A-27AAE9561A56}">
      <dgm:prSet/>
      <dgm:spPr/>
      <dgm:t>
        <a:bodyPr/>
        <a:lstStyle/>
        <a:p>
          <a:endParaRPr lang="en-US"/>
        </a:p>
      </dgm:t>
    </dgm:pt>
    <dgm:pt modelId="{76E9229C-3AF6-4F8C-9EB8-66FCAAF6C83D}">
      <dgm:prSet/>
      <dgm:spPr/>
      <dgm:t>
        <a:bodyPr/>
        <a:lstStyle/>
        <a:p>
          <a:r>
            <a:rPr lang="en-US"/>
            <a:t>Sprint Execution:</a:t>
          </a:r>
        </a:p>
      </dgm:t>
    </dgm:pt>
    <dgm:pt modelId="{D695ABFD-024D-48BC-8695-933C78D88224}" type="parTrans" cxnId="{30209B4F-314E-4599-8014-9D9B229A8140}">
      <dgm:prSet/>
      <dgm:spPr/>
      <dgm:t>
        <a:bodyPr/>
        <a:lstStyle/>
        <a:p>
          <a:endParaRPr lang="en-US"/>
        </a:p>
      </dgm:t>
    </dgm:pt>
    <dgm:pt modelId="{98DD5F5E-E6F3-4906-8DAA-C47F67D9175A}" type="sibTrans" cxnId="{30209B4F-314E-4599-8014-9D9B229A8140}">
      <dgm:prSet/>
      <dgm:spPr/>
      <dgm:t>
        <a:bodyPr/>
        <a:lstStyle/>
        <a:p>
          <a:endParaRPr lang="en-US"/>
        </a:p>
      </dgm:t>
    </dgm:pt>
    <dgm:pt modelId="{C92C161F-821C-46BB-A93E-608437794AEC}">
      <dgm:prSet/>
      <dgm:spPr/>
      <dgm:t>
        <a:bodyPr/>
        <a:lstStyle/>
        <a:p>
          <a:r>
            <a:rPr lang="en-US"/>
            <a:t>Developers work on tasks in the sprint backlog. Actual development, testing, and integration of features.</a:t>
          </a:r>
        </a:p>
      </dgm:t>
    </dgm:pt>
    <dgm:pt modelId="{14F4F37F-92A1-4582-9A09-B8BCD4C4E8C6}" type="parTrans" cxnId="{CDBD38A5-CFBB-496A-A5E3-F4B3CB3C0310}">
      <dgm:prSet/>
      <dgm:spPr/>
      <dgm:t>
        <a:bodyPr/>
        <a:lstStyle/>
        <a:p>
          <a:endParaRPr lang="en-US"/>
        </a:p>
      </dgm:t>
    </dgm:pt>
    <dgm:pt modelId="{B3C9FB07-3243-4EE5-A35B-F1CE86C7BF16}" type="sibTrans" cxnId="{CDBD38A5-CFBB-496A-A5E3-F4B3CB3C0310}">
      <dgm:prSet/>
      <dgm:spPr/>
      <dgm:t>
        <a:bodyPr/>
        <a:lstStyle/>
        <a:p>
          <a:endParaRPr lang="en-US"/>
        </a:p>
      </dgm:t>
    </dgm:pt>
    <dgm:pt modelId="{9B097719-C777-4D3C-B9DD-907A5A8D9A7C}">
      <dgm:prSet/>
      <dgm:spPr/>
      <dgm:t>
        <a:bodyPr/>
        <a:lstStyle/>
        <a:p>
          <a:r>
            <a:rPr lang="en-US"/>
            <a:t>Scrum</a:t>
          </a:r>
        </a:p>
      </dgm:t>
    </dgm:pt>
    <dgm:pt modelId="{8A9850C2-2230-42B2-974E-F132E4CC3476}" type="parTrans" cxnId="{ECA92B48-B324-4E24-BBF1-72F8D9571444}">
      <dgm:prSet/>
      <dgm:spPr/>
      <dgm:t>
        <a:bodyPr/>
        <a:lstStyle/>
        <a:p>
          <a:endParaRPr lang="en-US"/>
        </a:p>
      </dgm:t>
    </dgm:pt>
    <dgm:pt modelId="{954C5841-0B90-462C-B4D5-68B6FC7F191F}" type="sibTrans" cxnId="{ECA92B48-B324-4E24-BBF1-72F8D9571444}">
      <dgm:prSet/>
      <dgm:spPr/>
      <dgm:t>
        <a:bodyPr/>
        <a:lstStyle/>
        <a:p>
          <a:endParaRPr lang="en-US"/>
        </a:p>
      </dgm:t>
    </dgm:pt>
    <dgm:pt modelId="{116CA453-A6A1-4B01-A5D3-2B6A88568B94}">
      <dgm:prSet/>
      <dgm:spPr/>
      <dgm:t>
        <a:bodyPr/>
        <a:lstStyle/>
        <a:p>
          <a:r>
            <a:rPr lang="en-US"/>
            <a:t>Daily Scrum:</a:t>
          </a:r>
        </a:p>
      </dgm:t>
    </dgm:pt>
    <dgm:pt modelId="{6F3836AA-9B00-42A4-ACA4-C146B01C6D47}" type="parTrans" cxnId="{5FAC1182-2AF4-4B35-A1F7-2571FF668BF5}">
      <dgm:prSet/>
      <dgm:spPr/>
      <dgm:t>
        <a:bodyPr/>
        <a:lstStyle/>
        <a:p>
          <a:endParaRPr lang="en-US"/>
        </a:p>
      </dgm:t>
    </dgm:pt>
    <dgm:pt modelId="{2A5379F6-E33D-4EB8-8454-50B6716B4E1B}" type="sibTrans" cxnId="{5FAC1182-2AF4-4B35-A1F7-2571FF668BF5}">
      <dgm:prSet/>
      <dgm:spPr/>
      <dgm:t>
        <a:bodyPr/>
        <a:lstStyle/>
        <a:p>
          <a:endParaRPr lang="en-US"/>
        </a:p>
      </dgm:t>
    </dgm:pt>
    <dgm:pt modelId="{0E34A20B-281D-4F9F-839B-EFCCF946A779}">
      <dgm:prSet/>
      <dgm:spPr/>
      <dgm:t>
        <a:bodyPr/>
        <a:lstStyle/>
        <a:p>
          <a:r>
            <a:rPr lang="en-US"/>
            <a:t>Daily 15-minute meeting to discuss progress, obstacles, and goals. Keeps the team aligned and identifies blockers early.</a:t>
          </a:r>
        </a:p>
      </dgm:t>
    </dgm:pt>
    <dgm:pt modelId="{78C97AE3-4618-47DA-B9F2-B6F0552C6BEE}" type="parTrans" cxnId="{86518296-9039-4D82-9100-E977887FC7B8}">
      <dgm:prSet/>
      <dgm:spPr/>
      <dgm:t>
        <a:bodyPr/>
        <a:lstStyle/>
        <a:p>
          <a:endParaRPr lang="en-US"/>
        </a:p>
      </dgm:t>
    </dgm:pt>
    <dgm:pt modelId="{85205B26-E720-405C-BE66-62B82E0C59F4}" type="sibTrans" cxnId="{86518296-9039-4D82-9100-E977887FC7B8}">
      <dgm:prSet/>
      <dgm:spPr/>
      <dgm:t>
        <a:bodyPr/>
        <a:lstStyle/>
        <a:p>
          <a:endParaRPr lang="en-US"/>
        </a:p>
      </dgm:t>
    </dgm:pt>
    <dgm:pt modelId="{CC3472D4-3A5A-4F03-BD9A-1B35734FBFBE}">
      <dgm:prSet/>
      <dgm:spPr/>
      <dgm:t>
        <a:bodyPr/>
        <a:lstStyle/>
        <a:p>
          <a:r>
            <a:rPr lang="en-US"/>
            <a:t>Sprint</a:t>
          </a:r>
        </a:p>
      </dgm:t>
    </dgm:pt>
    <dgm:pt modelId="{2873BCCA-829D-4AF7-942B-03E66D7075BF}" type="parTrans" cxnId="{DEA91DF6-21A1-4A14-BAE0-E7EC8FECE1D8}">
      <dgm:prSet/>
      <dgm:spPr/>
      <dgm:t>
        <a:bodyPr/>
        <a:lstStyle/>
        <a:p>
          <a:endParaRPr lang="en-US"/>
        </a:p>
      </dgm:t>
    </dgm:pt>
    <dgm:pt modelId="{E9CE43F9-DCDF-4AE7-AF08-BFDBFCFDD2B1}" type="sibTrans" cxnId="{DEA91DF6-21A1-4A14-BAE0-E7EC8FECE1D8}">
      <dgm:prSet/>
      <dgm:spPr/>
      <dgm:t>
        <a:bodyPr/>
        <a:lstStyle/>
        <a:p>
          <a:endParaRPr lang="en-US"/>
        </a:p>
      </dgm:t>
    </dgm:pt>
    <dgm:pt modelId="{5DACEA95-BDC8-4552-8996-B20DAACA544F}">
      <dgm:prSet/>
      <dgm:spPr/>
      <dgm:t>
        <a:bodyPr/>
        <a:lstStyle/>
        <a:p>
          <a:r>
            <a:rPr lang="en-US"/>
            <a:t>Sprint Review:</a:t>
          </a:r>
        </a:p>
      </dgm:t>
    </dgm:pt>
    <dgm:pt modelId="{F778C2DB-26E0-4F70-AF95-BD7E021B0C86}" type="parTrans" cxnId="{3C86F14C-6895-49F0-9F6F-2EFAA1072571}">
      <dgm:prSet/>
      <dgm:spPr/>
      <dgm:t>
        <a:bodyPr/>
        <a:lstStyle/>
        <a:p>
          <a:endParaRPr lang="en-US"/>
        </a:p>
      </dgm:t>
    </dgm:pt>
    <dgm:pt modelId="{7986548F-273B-45F9-84EF-DEC14C4E39AC}" type="sibTrans" cxnId="{3C86F14C-6895-49F0-9F6F-2EFAA1072571}">
      <dgm:prSet/>
      <dgm:spPr/>
      <dgm:t>
        <a:bodyPr/>
        <a:lstStyle/>
        <a:p>
          <a:endParaRPr lang="en-US"/>
        </a:p>
      </dgm:t>
    </dgm:pt>
    <dgm:pt modelId="{28E8BE92-F666-4E73-B129-2F495F861128}">
      <dgm:prSet/>
      <dgm:spPr/>
      <dgm:t>
        <a:bodyPr/>
        <a:lstStyle/>
        <a:p>
          <a:r>
            <a:rPr lang="en-US"/>
            <a:t>Team demonstrates the work done to the stakeholders. Ensures the product is on track with the user’s needs and expectations.</a:t>
          </a:r>
        </a:p>
      </dgm:t>
    </dgm:pt>
    <dgm:pt modelId="{DFFFCC2D-6EF2-4A7A-94C4-51CA06637D93}" type="parTrans" cxnId="{7C02A09C-DB62-46EC-A925-16BE61EA14B7}">
      <dgm:prSet/>
      <dgm:spPr/>
      <dgm:t>
        <a:bodyPr/>
        <a:lstStyle/>
        <a:p>
          <a:endParaRPr lang="en-US"/>
        </a:p>
      </dgm:t>
    </dgm:pt>
    <dgm:pt modelId="{F9D15D2D-5076-4318-850B-A88D637B39FD}" type="sibTrans" cxnId="{7C02A09C-DB62-46EC-A925-16BE61EA14B7}">
      <dgm:prSet/>
      <dgm:spPr/>
      <dgm:t>
        <a:bodyPr/>
        <a:lstStyle/>
        <a:p>
          <a:endParaRPr lang="en-US"/>
        </a:p>
      </dgm:t>
    </dgm:pt>
    <dgm:pt modelId="{F8971B6A-FEDF-434A-ACD0-4A8AA19C8FB3}">
      <dgm:prSet/>
      <dgm:spPr/>
      <dgm:t>
        <a:bodyPr/>
        <a:lstStyle/>
        <a:p>
          <a:r>
            <a:rPr lang="en-US"/>
            <a:t>Sprint</a:t>
          </a:r>
        </a:p>
      </dgm:t>
    </dgm:pt>
    <dgm:pt modelId="{9CDFD577-B589-4478-96CB-74E79A8095B1}" type="parTrans" cxnId="{43112224-5C19-4C41-894A-57AD1E6ADBFA}">
      <dgm:prSet/>
      <dgm:spPr/>
      <dgm:t>
        <a:bodyPr/>
        <a:lstStyle/>
        <a:p>
          <a:endParaRPr lang="en-US"/>
        </a:p>
      </dgm:t>
    </dgm:pt>
    <dgm:pt modelId="{F101BBD9-A869-482B-A82A-B37254FD88C5}" type="sibTrans" cxnId="{43112224-5C19-4C41-894A-57AD1E6ADBFA}">
      <dgm:prSet/>
      <dgm:spPr/>
      <dgm:t>
        <a:bodyPr/>
        <a:lstStyle/>
        <a:p>
          <a:endParaRPr lang="en-US"/>
        </a:p>
      </dgm:t>
    </dgm:pt>
    <dgm:pt modelId="{9F14E53D-5CA3-43C1-82C1-7CED5EFD47F1}">
      <dgm:prSet/>
      <dgm:spPr/>
      <dgm:t>
        <a:bodyPr/>
        <a:lstStyle/>
        <a:p>
          <a:r>
            <a:rPr lang="en-US"/>
            <a:t>Sprint Retrospective:</a:t>
          </a:r>
        </a:p>
      </dgm:t>
    </dgm:pt>
    <dgm:pt modelId="{0B431864-768C-4D85-A5E3-90C0FA88834C}" type="parTrans" cxnId="{9AF60F42-AE54-4AA0-9A98-B2587EAF91F3}">
      <dgm:prSet/>
      <dgm:spPr/>
      <dgm:t>
        <a:bodyPr/>
        <a:lstStyle/>
        <a:p>
          <a:endParaRPr lang="en-US"/>
        </a:p>
      </dgm:t>
    </dgm:pt>
    <dgm:pt modelId="{0BB6F2B1-C858-49C9-BAF9-FAA07DBFC7A5}" type="sibTrans" cxnId="{9AF60F42-AE54-4AA0-9A98-B2587EAF91F3}">
      <dgm:prSet/>
      <dgm:spPr/>
      <dgm:t>
        <a:bodyPr/>
        <a:lstStyle/>
        <a:p>
          <a:endParaRPr lang="en-US"/>
        </a:p>
      </dgm:t>
    </dgm:pt>
    <dgm:pt modelId="{525C84DA-D6D9-4A1F-A447-9B945BDCF106}">
      <dgm:prSet/>
      <dgm:spPr/>
      <dgm:t>
        <a:bodyPr/>
        <a:lstStyle/>
        <a:p>
          <a:r>
            <a:rPr lang="en-US"/>
            <a:t>Reflecting on the sprint to improve processes for the next sprint. Continuous improvement of the team's processes and product quality.</a:t>
          </a:r>
        </a:p>
      </dgm:t>
    </dgm:pt>
    <dgm:pt modelId="{59387D04-4FB9-4DC1-8C46-EE93C0ADB770}" type="parTrans" cxnId="{65FB54F3-71F6-45ED-92CC-53BDCDD3EF6A}">
      <dgm:prSet/>
      <dgm:spPr/>
      <dgm:t>
        <a:bodyPr/>
        <a:lstStyle/>
        <a:p>
          <a:endParaRPr lang="en-US"/>
        </a:p>
      </dgm:t>
    </dgm:pt>
    <dgm:pt modelId="{EB603A78-ECD8-4A8C-95BA-1A7E44B7F04F}" type="sibTrans" cxnId="{65FB54F3-71F6-45ED-92CC-53BDCDD3EF6A}">
      <dgm:prSet/>
      <dgm:spPr/>
      <dgm:t>
        <a:bodyPr/>
        <a:lstStyle/>
        <a:p>
          <a:endParaRPr lang="en-US"/>
        </a:p>
      </dgm:t>
    </dgm:pt>
    <dgm:pt modelId="{C31D67F9-CADB-42A7-B0CD-CBC6EF41D47A}" type="pres">
      <dgm:prSet presAssocID="{FA921735-210C-44DB-9400-FF7FE626929D}" presName="Name0" presStyleCnt="0">
        <dgm:presLayoutVars>
          <dgm:dir/>
          <dgm:animLvl val="lvl"/>
          <dgm:resizeHandles val="exact"/>
        </dgm:presLayoutVars>
      </dgm:prSet>
      <dgm:spPr/>
    </dgm:pt>
    <dgm:pt modelId="{5198F707-0139-4366-946F-8ADEF8343B7A}" type="pres">
      <dgm:prSet presAssocID="{F8971B6A-FEDF-434A-ACD0-4A8AA19C8FB3}" presName="boxAndChildren" presStyleCnt="0"/>
      <dgm:spPr/>
    </dgm:pt>
    <dgm:pt modelId="{AE603B3C-FB9D-4966-9B5D-3AA8047CB7D6}" type="pres">
      <dgm:prSet presAssocID="{F8971B6A-FEDF-434A-ACD0-4A8AA19C8FB3}" presName="parentTextBox" presStyleLbl="alignNode1" presStyleIdx="0" presStyleCnt="5"/>
      <dgm:spPr/>
    </dgm:pt>
    <dgm:pt modelId="{4BA482FC-54BF-4B55-AD3B-F6282DC9668A}" type="pres">
      <dgm:prSet presAssocID="{F8971B6A-FEDF-434A-ACD0-4A8AA19C8FB3}" presName="descendantBox" presStyleLbl="bgAccFollowNode1" presStyleIdx="0" presStyleCnt="5"/>
      <dgm:spPr/>
    </dgm:pt>
    <dgm:pt modelId="{D4B08654-431D-4CC7-95A5-E08AF1546C1B}" type="pres">
      <dgm:prSet presAssocID="{E9CE43F9-DCDF-4AE7-AF08-BFDBFCFDD2B1}" presName="sp" presStyleCnt="0"/>
      <dgm:spPr/>
    </dgm:pt>
    <dgm:pt modelId="{F348FAFA-007F-474C-BEBA-A970488DD22C}" type="pres">
      <dgm:prSet presAssocID="{CC3472D4-3A5A-4F03-BD9A-1B35734FBFBE}" presName="arrowAndChildren" presStyleCnt="0"/>
      <dgm:spPr/>
    </dgm:pt>
    <dgm:pt modelId="{3B0D15F6-A724-43A1-BD48-3BB4D4A2079A}" type="pres">
      <dgm:prSet presAssocID="{CC3472D4-3A5A-4F03-BD9A-1B35734FBFBE}" presName="parentTextArrow" presStyleLbl="node1" presStyleIdx="0" presStyleCnt="0"/>
      <dgm:spPr/>
    </dgm:pt>
    <dgm:pt modelId="{869FD206-0F34-474D-AFCD-7E828D3BF50C}" type="pres">
      <dgm:prSet presAssocID="{CC3472D4-3A5A-4F03-BD9A-1B35734FBFBE}" presName="arrow" presStyleLbl="alignNode1" presStyleIdx="1" presStyleCnt="5"/>
      <dgm:spPr/>
    </dgm:pt>
    <dgm:pt modelId="{2561E964-631A-4BD5-9630-4EFA130174CD}" type="pres">
      <dgm:prSet presAssocID="{CC3472D4-3A5A-4F03-BD9A-1B35734FBFBE}" presName="descendantArrow" presStyleLbl="bgAccFollowNode1" presStyleIdx="1" presStyleCnt="5"/>
      <dgm:spPr/>
    </dgm:pt>
    <dgm:pt modelId="{8D608093-BCEC-465F-B15A-F3946802489A}" type="pres">
      <dgm:prSet presAssocID="{954C5841-0B90-462C-B4D5-68B6FC7F191F}" presName="sp" presStyleCnt="0"/>
      <dgm:spPr/>
    </dgm:pt>
    <dgm:pt modelId="{933D693E-344B-4BF4-A7E3-58931C16FAB9}" type="pres">
      <dgm:prSet presAssocID="{9B097719-C777-4D3C-B9DD-907A5A8D9A7C}" presName="arrowAndChildren" presStyleCnt="0"/>
      <dgm:spPr/>
    </dgm:pt>
    <dgm:pt modelId="{A2DC2E35-11D8-4805-9A9C-87A0170581D3}" type="pres">
      <dgm:prSet presAssocID="{9B097719-C777-4D3C-B9DD-907A5A8D9A7C}" presName="parentTextArrow" presStyleLbl="node1" presStyleIdx="0" presStyleCnt="0"/>
      <dgm:spPr/>
    </dgm:pt>
    <dgm:pt modelId="{F948197B-9264-41E3-92B1-2102DC6B38AC}" type="pres">
      <dgm:prSet presAssocID="{9B097719-C777-4D3C-B9DD-907A5A8D9A7C}" presName="arrow" presStyleLbl="alignNode1" presStyleIdx="2" presStyleCnt="5"/>
      <dgm:spPr/>
    </dgm:pt>
    <dgm:pt modelId="{BA6B43C7-997B-4782-B206-232278805966}" type="pres">
      <dgm:prSet presAssocID="{9B097719-C777-4D3C-B9DD-907A5A8D9A7C}" presName="descendantArrow" presStyleLbl="bgAccFollowNode1" presStyleIdx="2" presStyleCnt="5"/>
      <dgm:spPr/>
    </dgm:pt>
    <dgm:pt modelId="{443123AC-FB8C-4592-B0B4-9B7C68CBE44A}" type="pres">
      <dgm:prSet presAssocID="{AF4ED8B4-C109-429E-921A-E0E0727DAD92}" presName="sp" presStyleCnt="0"/>
      <dgm:spPr/>
    </dgm:pt>
    <dgm:pt modelId="{1166E8AC-4345-4CD2-8BB9-BA856F191481}" type="pres">
      <dgm:prSet presAssocID="{6E37E85F-C2A1-4E08-B5AC-EEAA50041BEB}" presName="arrowAndChildren" presStyleCnt="0"/>
      <dgm:spPr/>
    </dgm:pt>
    <dgm:pt modelId="{6F51D35A-BCA0-4DAF-BD50-36613FDD377E}" type="pres">
      <dgm:prSet presAssocID="{6E37E85F-C2A1-4E08-B5AC-EEAA50041BEB}" presName="parentTextArrow" presStyleLbl="node1" presStyleIdx="0" presStyleCnt="0"/>
      <dgm:spPr/>
    </dgm:pt>
    <dgm:pt modelId="{E5229416-C380-4B79-A516-31C9BA7A8D14}" type="pres">
      <dgm:prSet presAssocID="{6E37E85F-C2A1-4E08-B5AC-EEAA50041BEB}" presName="arrow" presStyleLbl="alignNode1" presStyleIdx="3" presStyleCnt="5"/>
      <dgm:spPr/>
    </dgm:pt>
    <dgm:pt modelId="{1B85EFB5-37C2-467C-B9F4-62680934E5C7}" type="pres">
      <dgm:prSet presAssocID="{6E37E85F-C2A1-4E08-B5AC-EEAA50041BEB}" presName="descendantArrow" presStyleLbl="bgAccFollowNode1" presStyleIdx="3" presStyleCnt="5"/>
      <dgm:spPr/>
    </dgm:pt>
    <dgm:pt modelId="{3D73C1BD-D56C-4CB3-8DE8-B897F2073150}" type="pres">
      <dgm:prSet presAssocID="{0CAE83F5-3BBC-47BD-A9C2-A08C60CDF663}" presName="sp" presStyleCnt="0"/>
      <dgm:spPr/>
    </dgm:pt>
    <dgm:pt modelId="{E3796B67-23FD-4CEA-AF3E-FAFA94808F21}" type="pres">
      <dgm:prSet presAssocID="{04967009-6F26-4EE6-8820-EF14257C152C}" presName="arrowAndChildren" presStyleCnt="0"/>
      <dgm:spPr/>
    </dgm:pt>
    <dgm:pt modelId="{E422CCA4-EC3D-40EA-91FB-C5C7D7338FC7}" type="pres">
      <dgm:prSet presAssocID="{04967009-6F26-4EE6-8820-EF14257C152C}" presName="parentTextArrow" presStyleLbl="node1" presStyleIdx="0" presStyleCnt="0"/>
      <dgm:spPr/>
    </dgm:pt>
    <dgm:pt modelId="{64A6EBEC-0DE5-4ECC-973C-8E98D4CC32CC}" type="pres">
      <dgm:prSet presAssocID="{04967009-6F26-4EE6-8820-EF14257C152C}" presName="arrow" presStyleLbl="alignNode1" presStyleIdx="4" presStyleCnt="5"/>
      <dgm:spPr/>
    </dgm:pt>
    <dgm:pt modelId="{2912E294-DE7D-487D-943E-0384B9A89961}" type="pres">
      <dgm:prSet presAssocID="{04967009-6F26-4EE6-8820-EF14257C152C}" presName="descendantArrow" presStyleLbl="bgAccFollowNode1" presStyleIdx="4" presStyleCnt="5"/>
      <dgm:spPr/>
    </dgm:pt>
  </dgm:ptLst>
  <dgm:cxnLst>
    <dgm:cxn modelId="{74C9F602-64C0-4001-85E8-BAA105D0A0B0}" type="presOf" srcId="{BED635DC-44E8-4BA8-98B6-2B055AC65A6D}" destId="{2912E294-DE7D-487D-943E-0384B9A89961}" srcOrd="0" destOrd="0" presId="urn:microsoft.com/office/officeart/2016/7/layout/VerticalDownArrowProcess"/>
    <dgm:cxn modelId="{C92ED104-598E-40BC-8B9B-E756C05F477E}" srcId="{BED635DC-44E8-4BA8-98B6-2B055AC65A6D}" destId="{68FC0CEE-1231-4B14-9314-9231B6D3FE11}" srcOrd="0" destOrd="0" parTransId="{7199DA9F-39FC-4711-9CF2-3CFA080508D7}" sibTransId="{E9C8CA00-B104-45CA-BDEE-583927CB643E}"/>
    <dgm:cxn modelId="{B43CB317-3C86-4A88-9B8F-41A1E2299F86}" type="presOf" srcId="{04967009-6F26-4EE6-8820-EF14257C152C}" destId="{64A6EBEC-0DE5-4ECC-973C-8E98D4CC32CC}" srcOrd="1" destOrd="0" presId="urn:microsoft.com/office/officeart/2016/7/layout/VerticalDownArrowProcess"/>
    <dgm:cxn modelId="{D3B50D1A-8737-4273-9A42-F89BE9E41FD3}" srcId="{04967009-6F26-4EE6-8820-EF14257C152C}" destId="{BED635DC-44E8-4BA8-98B6-2B055AC65A6D}" srcOrd="0" destOrd="0" parTransId="{20A93D9E-7FAD-45F8-B22C-9FA9231DF15A}" sibTransId="{225FF55B-C425-47A2-BEA1-79D18A3AC913}"/>
    <dgm:cxn modelId="{549AC721-12CE-4601-A851-04588457200D}" type="presOf" srcId="{CC3472D4-3A5A-4F03-BD9A-1B35734FBFBE}" destId="{3B0D15F6-A724-43A1-BD48-3BB4D4A2079A}" srcOrd="0" destOrd="0" presId="urn:microsoft.com/office/officeart/2016/7/layout/VerticalDownArrowProcess"/>
    <dgm:cxn modelId="{43112224-5C19-4C41-894A-57AD1E6ADBFA}" srcId="{FA921735-210C-44DB-9400-FF7FE626929D}" destId="{F8971B6A-FEDF-434A-ACD0-4A8AA19C8FB3}" srcOrd="4" destOrd="0" parTransId="{9CDFD577-B589-4478-96CB-74E79A8095B1}" sibTransId="{F101BBD9-A869-482B-A82A-B37254FD88C5}"/>
    <dgm:cxn modelId="{DA27483F-C9D4-40A4-923D-9D97A90CAF02}" type="presOf" srcId="{116CA453-A6A1-4B01-A5D3-2B6A88568B94}" destId="{BA6B43C7-997B-4782-B206-232278805966}" srcOrd="0" destOrd="0" presId="urn:microsoft.com/office/officeart/2016/7/layout/VerticalDownArrowProcess"/>
    <dgm:cxn modelId="{D2DBAE5C-CB72-4B3C-80A7-F1D18AD7DA6F}" type="presOf" srcId="{9B097719-C777-4D3C-B9DD-907A5A8D9A7C}" destId="{F948197B-9264-41E3-92B1-2102DC6B38AC}" srcOrd="1" destOrd="0" presId="urn:microsoft.com/office/officeart/2016/7/layout/VerticalDownArrowProcess"/>
    <dgm:cxn modelId="{9AF60F42-AE54-4AA0-9A98-B2587EAF91F3}" srcId="{F8971B6A-FEDF-434A-ACD0-4A8AA19C8FB3}" destId="{9F14E53D-5CA3-43C1-82C1-7CED5EFD47F1}" srcOrd="0" destOrd="0" parTransId="{0B431864-768C-4D85-A5E3-90C0FA88834C}" sibTransId="{0BB6F2B1-C858-49C9-BAF9-FAA07DBFC7A5}"/>
    <dgm:cxn modelId="{5ACA8B62-032D-42FD-8556-DFF54BCEB0B5}" type="presOf" srcId="{04967009-6F26-4EE6-8820-EF14257C152C}" destId="{E422CCA4-EC3D-40EA-91FB-C5C7D7338FC7}" srcOrd="0" destOrd="0" presId="urn:microsoft.com/office/officeart/2016/7/layout/VerticalDownArrowProcess"/>
    <dgm:cxn modelId="{ECA92B48-B324-4E24-BBF1-72F8D9571444}" srcId="{FA921735-210C-44DB-9400-FF7FE626929D}" destId="{9B097719-C777-4D3C-B9DD-907A5A8D9A7C}" srcOrd="2" destOrd="0" parTransId="{8A9850C2-2230-42B2-974E-F132E4CC3476}" sibTransId="{954C5841-0B90-462C-B4D5-68B6FC7F191F}"/>
    <dgm:cxn modelId="{3C86F14C-6895-49F0-9F6F-2EFAA1072571}" srcId="{CC3472D4-3A5A-4F03-BD9A-1B35734FBFBE}" destId="{5DACEA95-BDC8-4552-8996-B20DAACA544F}" srcOrd="0" destOrd="0" parTransId="{F778C2DB-26E0-4F70-AF95-BD7E021B0C86}" sibTransId="{7986548F-273B-45F9-84EF-DEC14C4E39AC}"/>
    <dgm:cxn modelId="{EA40394D-4EB8-4D8D-8674-836D5C2F1C95}" type="presOf" srcId="{0E34A20B-281D-4F9F-839B-EFCCF946A779}" destId="{BA6B43C7-997B-4782-B206-232278805966}" srcOrd="0" destOrd="1" presId="urn:microsoft.com/office/officeart/2016/7/layout/VerticalDownArrowProcess"/>
    <dgm:cxn modelId="{30209B4F-314E-4599-8014-9D9B229A8140}" srcId="{6E37E85F-C2A1-4E08-B5AC-EEAA50041BEB}" destId="{76E9229C-3AF6-4F8C-9EB8-66FCAAF6C83D}" srcOrd="0" destOrd="0" parTransId="{D695ABFD-024D-48BC-8695-933C78D88224}" sibTransId="{98DD5F5E-E6F3-4906-8DAA-C47F67D9175A}"/>
    <dgm:cxn modelId="{5FAC1182-2AF4-4B35-A1F7-2571FF668BF5}" srcId="{9B097719-C777-4D3C-B9DD-907A5A8D9A7C}" destId="{116CA453-A6A1-4B01-A5D3-2B6A88568B94}" srcOrd="0" destOrd="0" parTransId="{6F3836AA-9B00-42A4-ACA4-C146B01C6D47}" sibTransId="{2A5379F6-E33D-4EB8-8454-50B6716B4E1B}"/>
    <dgm:cxn modelId="{EC23DD84-DAB9-4CB6-9671-4A74D46B8183}" type="presOf" srcId="{FA921735-210C-44DB-9400-FF7FE626929D}" destId="{C31D67F9-CADB-42A7-B0CD-CBC6EF41D47A}" srcOrd="0" destOrd="0" presId="urn:microsoft.com/office/officeart/2016/7/layout/VerticalDownArrowProcess"/>
    <dgm:cxn modelId="{D22E3791-44BF-43FF-86D7-F5253AF1AAB3}" type="presOf" srcId="{68FC0CEE-1231-4B14-9314-9231B6D3FE11}" destId="{2912E294-DE7D-487D-943E-0384B9A89961}" srcOrd="0" destOrd="1" presId="urn:microsoft.com/office/officeart/2016/7/layout/VerticalDownArrowProcess"/>
    <dgm:cxn modelId="{86518296-9039-4D82-9100-E977887FC7B8}" srcId="{116CA453-A6A1-4B01-A5D3-2B6A88568B94}" destId="{0E34A20B-281D-4F9F-839B-EFCCF946A779}" srcOrd="0" destOrd="0" parTransId="{78C97AE3-4618-47DA-B9F2-B6F0552C6BEE}" sibTransId="{85205B26-E720-405C-BE66-62B82E0C59F4}"/>
    <dgm:cxn modelId="{96E0A697-F26F-48DD-BBA2-1628EE00CB05}" type="presOf" srcId="{6E37E85F-C2A1-4E08-B5AC-EEAA50041BEB}" destId="{E5229416-C380-4B79-A516-31C9BA7A8D14}" srcOrd="1" destOrd="0" presId="urn:microsoft.com/office/officeart/2016/7/layout/VerticalDownArrowProcess"/>
    <dgm:cxn modelId="{6405E697-4E6D-4342-87CB-7C34409DEFAA}" type="presOf" srcId="{76E9229C-3AF6-4F8C-9EB8-66FCAAF6C83D}" destId="{1B85EFB5-37C2-467C-B9F4-62680934E5C7}" srcOrd="0" destOrd="0" presId="urn:microsoft.com/office/officeart/2016/7/layout/VerticalDownArrowProcess"/>
    <dgm:cxn modelId="{7C02A09C-DB62-46EC-A925-16BE61EA14B7}" srcId="{5DACEA95-BDC8-4552-8996-B20DAACA544F}" destId="{28E8BE92-F666-4E73-B129-2F495F861128}" srcOrd="0" destOrd="0" parTransId="{DFFFCC2D-6EF2-4A7A-94C4-51CA06637D93}" sibTransId="{F9D15D2D-5076-4318-850B-A88D637B39FD}"/>
    <dgm:cxn modelId="{CDBD38A5-CFBB-496A-A5E3-F4B3CB3C0310}" srcId="{76E9229C-3AF6-4F8C-9EB8-66FCAAF6C83D}" destId="{C92C161F-821C-46BB-A93E-608437794AEC}" srcOrd="0" destOrd="0" parTransId="{14F4F37F-92A1-4582-9A09-B8BCD4C4E8C6}" sibTransId="{B3C9FB07-3243-4EE5-A35B-F1CE86C7BF16}"/>
    <dgm:cxn modelId="{A446D5A9-14F8-4BC8-9A50-F3B66FF5423A}" type="presOf" srcId="{28E8BE92-F666-4E73-B129-2F495F861128}" destId="{2561E964-631A-4BD5-9630-4EFA130174CD}" srcOrd="0" destOrd="1" presId="urn:microsoft.com/office/officeart/2016/7/layout/VerticalDownArrowProcess"/>
    <dgm:cxn modelId="{B38AD2B1-E145-4187-A2F0-6FB0726A78CC}" type="presOf" srcId="{CC3472D4-3A5A-4F03-BD9A-1B35734FBFBE}" destId="{869FD206-0F34-474D-AFCD-7E828D3BF50C}" srcOrd="1" destOrd="0" presId="urn:microsoft.com/office/officeart/2016/7/layout/VerticalDownArrowProcess"/>
    <dgm:cxn modelId="{32A867B8-18E8-43D0-8D99-462F29250872}" srcId="{FA921735-210C-44DB-9400-FF7FE626929D}" destId="{04967009-6F26-4EE6-8820-EF14257C152C}" srcOrd="0" destOrd="0" parTransId="{D9BB8119-C688-42AC-8A5F-40C45DC1745D}" sibTransId="{0CAE83F5-3BBC-47BD-A9C2-A08C60CDF663}"/>
    <dgm:cxn modelId="{87696CBB-452B-4BFC-8947-B2228E5D52EC}" type="presOf" srcId="{9B097719-C777-4D3C-B9DD-907A5A8D9A7C}" destId="{A2DC2E35-11D8-4805-9A9C-87A0170581D3}" srcOrd="0" destOrd="0" presId="urn:microsoft.com/office/officeart/2016/7/layout/VerticalDownArrowProcess"/>
    <dgm:cxn modelId="{E1D8A1BD-E182-4866-8952-CED3992CA7AB}" type="presOf" srcId="{C92C161F-821C-46BB-A93E-608437794AEC}" destId="{1B85EFB5-37C2-467C-B9F4-62680934E5C7}" srcOrd="0" destOrd="1" presId="urn:microsoft.com/office/officeart/2016/7/layout/VerticalDownArrowProcess"/>
    <dgm:cxn modelId="{C222FECB-F611-45CA-BC5A-27AAE9561A56}" srcId="{FA921735-210C-44DB-9400-FF7FE626929D}" destId="{6E37E85F-C2A1-4E08-B5AC-EEAA50041BEB}" srcOrd="1" destOrd="0" parTransId="{E3CE167C-2ECF-4BA8-A75F-72C1B042BD31}" sibTransId="{AF4ED8B4-C109-429E-921A-E0E0727DAD92}"/>
    <dgm:cxn modelId="{96D019CD-0FE4-4605-8598-EBB0FE5536EF}" type="presOf" srcId="{5DACEA95-BDC8-4552-8996-B20DAACA544F}" destId="{2561E964-631A-4BD5-9630-4EFA130174CD}" srcOrd="0" destOrd="0" presId="urn:microsoft.com/office/officeart/2016/7/layout/VerticalDownArrowProcess"/>
    <dgm:cxn modelId="{BC13D3CF-A5A4-435E-A130-D1F2A7BE28E0}" type="presOf" srcId="{6E37E85F-C2A1-4E08-B5AC-EEAA50041BEB}" destId="{6F51D35A-BCA0-4DAF-BD50-36613FDD377E}" srcOrd="0" destOrd="0" presId="urn:microsoft.com/office/officeart/2016/7/layout/VerticalDownArrowProcess"/>
    <dgm:cxn modelId="{37941ADA-90D8-49F2-B5D5-7E053381449D}" type="presOf" srcId="{9F14E53D-5CA3-43C1-82C1-7CED5EFD47F1}" destId="{4BA482FC-54BF-4B55-AD3B-F6282DC9668A}" srcOrd="0" destOrd="0" presId="urn:microsoft.com/office/officeart/2016/7/layout/VerticalDownArrowProcess"/>
    <dgm:cxn modelId="{C97A4DDB-BA48-4CF7-93EF-DB3F7EA449C6}" type="presOf" srcId="{F8971B6A-FEDF-434A-ACD0-4A8AA19C8FB3}" destId="{AE603B3C-FB9D-4966-9B5D-3AA8047CB7D6}" srcOrd="0" destOrd="0" presId="urn:microsoft.com/office/officeart/2016/7/layout/VerticalDownArrowProcess"/>
    <dgm:cxn modelId="{65FB54F3-71F6-45ED-92CC-53BDCDD3EF6A}" srcId="{9F14E53D-5CA3-43C1-82C1-7CED5EFD47F1}" destId="{525C84DA-D6D9-4A1F-A447-9B945BDCF106}" srcOrd="0" destOrd="0" parTransId="{59387D04-4FB9-4DC1-8C46-EE93C0ADB770}" sibTransId="{EB603A78-ECD8-4A8C-95BA-1A7E44B7F04F}"/>
    <dgm:cxn modelId="{DEA91DF6-21A1-4A14-BAE0-E7EC8FECE1D8}" srcId="{FA921735-210C-44DB-9400-FF7FE626929D}" destId="{CC3472D4-3A5A-4F03-BD9A-1B35734FBFBE}" srcOrd="3" destOrd="0" parTransId="{2873BCCA-829D-4AF7-942B-03E66D7075BF}" sibTransId="{E9CE43F9-DCDF-4AE7-AF08-BFDBFCFDD2B1}"/>
    <dgm:cxn modelId="{9AAD86FD-2394-4F10-BEA6-42EBB64ACAFE}" type="presOf" srcId="{525C84DA-D6D9-4A1F-A447-9B945BDCF106}" destId="{4BA482FC-54BF-4B55-AD3B-F6282DC9668A}" srcOrd="0" destOrd="1" presId="urn:microsoft.com/office/officeart/2016/7/layout/VerticalDownArrowProcess"/>
    <dgm:cxn modelId="{FBEEB086-A6F7-4E11-9A57-22063B17F00F}" type="presParOf" srcId="{C31D67F9-CADB-42A7-B0CD-CBC6EF41D47A}" destId="{5198F707-0139-4366-946F-8ADEF8343B7A}" srcOrd="0" destOrd="0" presId="urn:microsoft.com/office/officeart/2016/7/layout/VerticalDownArrowProcess"/>
    <dgm:cxn modelId="{55F267E5-C367-4E21-801A-EAA69C77C002}" type="presParOf" srcId="{5198F707-0139-4366-946F-8ADEF8343B7A}" destId="{AE603B3C-FB9D-4966-9B5D-3AA8047CB7D6}" srcOrd="0" destOrd="0" presId="urn:microsoft.com/office/officeart/2016/7/layout/VerticalDownArrowProcess"/>
    <dgm:cxn modelId="{6C4A4031-A1AD-4306-BE75-6353DADCBD77}" type="presParOf" srcId="{5198F707-0139-4366-946F-8ADEF8343B7A}" destId="{4BA482FC-54BF-4B55-AD3B-F6282DC9668A}" srcOrd="1" destOrd="0" presId="urn:microsoft.com/office/officeart/2016/7/layout/VerticalDownArrowProcess"/>
    <dgm:cxn modelId="{D15FC4AA-542C-41DC-9D54-362FB4C52A9F}" type="presParOf" srcId="{C31D67F9-CADB-42A7-B0CD-CBC6EF41D47A}" destId="{D4B08654-431D-4CC7-95A5-E08AF1546C1B}" srcOrd="1" destOrd="0" presId="urn:microsoft.com/office/officeart/2016/7/layout/VerticalDownArrowProcess"/>
    <dgm:cxn modelId="{8A8413F2-C884-4B86-9A42-67E70DEE3108}" type="presParOf" srcId="{C31D67F9-CADB-42A7-B0CD-CBC6EF41D47A}" destId="{F348FAFA-007F-474C-BEBA-A970488DD22C}" srcOrd="2" destOrd="0" presId="urn:microsoft.com/office/officeart/2016/7/layout/VerticalDownArrowProcess"/>
    <dgm:cxn modelId="{25BD4F6F-7173-4919-8765-FD56431B8E0E}" type="presParOf" srcId="{F348FAFA-007F-474C-BEBA-A970488DD22C}" destId="{3B0D15F6-A724-43A1-BD48-3BB4D4A2079A}" srcOrd="0" destOrd="0" presId="urn:microsoft.com/office/officeart/2016/7/layout/VerticalDownArrowProcess"/>
    <dgm:cxn modelId="{DE519F0C-5C16-40FF-BF4E-E9D7C38283D9}" type="presParOf" srcId="{F348FAFA-007F-474C-BEBA-A970488DD22C}" destId="{869FD206-0F34-474D-AFCD-7E828D3BF50C}" srcOrd="1" destOrd="0" presId="urn:microsoft.com/office/officeart/2016/7/layout/VerticalDownArrowProcess"/>
    <dgm:cxn modelId="{345EE7D2-CCCF-40AA-872F-9E962EE694F1}" type="presParOf" srcId="{F348FAFA-007F-474C-BEBA-A970488DD22C}" destId="{2561E964-631A-4BD5-9630-4EFA130174CD}" srcOrd="2" destOrd="0" presId="urn:microsoft.com/office/officeart/2016/7/layout/VerticalDownArrowProcess"/>
    <dgm:cxn modelId="{BBE73356-8A22-4BED-B700-194B12B0F041}" type="presParOf" srcId="{C31D67F9-CADB-42A7-B0CD-CBC6EF41D47A}" destId="{8D608093-BCEC-465F-B15A-F3946802489A}" srcOrd="3" destOrd="0" presId="urn:microsoft.com/office/officeart/2016/7/layout/VerticalDownArrowProcess"/>
    <dgm:cxn modelId="{002A7308-51D5-4AAD-AC43-E9FD5883548B}" type="presParOf" srcId="{C31D67F9-CADB-42A7-B0CD-CBC6EF41D47A}" destId="{933D693E-344B-4BF4-A7E3-58931C16FAB9}" srcOrd="4" destOrd="0" presId="urn:microsoft.com/office/officeart/2016/7/layout/VerticalDownArrowProcess"/>
    <dgm:cxn modelId="{C3709CED-FBB9-497E-831C-4C50E5AA3EE9}" type="presParOf" srcId="{933D693E-344B-4BF4-A7E3-58931C16FAB9}" destId="{A2DC2E35-11D8-4805-9A9C-87A0170581D3}" srcOrd="0" destOrd="0" presId="urn:microsoft.com/office/officeart/2016/7/layout/VerticalDownArrowProcess"/>
    <dgm:cxn modelId="{07ED56BB-4E36-489A-88B6-069C1CD65CED}" type="presParOf" srcId="{933D693E-344B-4BF4-A7E3-58931C16FAB9}" destId="{F948197B-9264-41E3-92B1-2102DC6B38AC}" srcOrd="1" destOrd="0" presId="urn:microsoft.com/office/officeart/2016/7/layout/VerticalDownArrowProcess"/>
    <dgm:cxn modelId="{8896B0ED-E9D7-4CD1-9B5F-94CF75D70614}" type="presParOf" srcId="{933D693E-344B-4BF4-A7E3-58931C16FAB9}" destId="{BA6B43C7-997B-4782-B206-232278805966}" srcOrd="2" destOrd="0" presId="urn:microsoft.com/office/officeart/2016/7/layout/VerticalDownArrowProcess"/>
    <dgm:cxn modelId="{CDD9701E-6820-43FF-BDD9-87404FD7D921}" type="presParOf" srcId="{C31D67F9-CADB-42A7-B0CD-CBC6EF41D47A}" destId="{443123AC-FB8C-4592-B0B4-9B7C68CBE44A}" srcOrd="5" destOrd="0" presId="urn:microsoft.com/office/officeart/2016/7/layout/VerticalDownArrowProcess"/>
    <dgm:cxn modelId="{DC3F41CB-D1B4-4083-A158-69EF795E482B}" type="presParOf" srcId="{C31D67F9-CADB-42A7-B0CD-CBC6EF41D47A}" destId="{1166E8AC-4345-4CD2-8BB9-BA856F191481}" srcOrd="6" destOrd="0" presId="urn:microsoft.com/office/officeart/2016/7/layout/VerticalDownArrowProcess"/>
    <dgm:cxn modelId="{BAD99E1E-CA7C-49D1-B92F-9A2D2B000C9B}" type="presParOf" srcId="{1166E8AC-4345-4CD2-8BB9-BA856F191481}" destId="{6F51D35A-BCA0-4DAF-BD50-36613FDD377E}" srcOrd="0" destOrd="0" presId="urn:microsoft.com/office/officeart/2016/7/layout/VerticalDownArrowProcess"/>
    <dgm:cxn modelId="{11C471FE-BAED-4743-90EC-8A6BFDC63FE9}" type="presParOf" srcId="{1166E8AC-4345-4CD2-8BB9-BA856F191481}" destId="{E5229416-C380-4B79-A516-31C9BA7A8D14}" srcOrd="1" destOrd="0" presId="urn:microsoft.com/office/officeart/2016/7/layout/VerticalDownArrowProcess"/>
    <dgm:cxn modelId="{FF64B765-100C-4BCA-A09D-D4D14C43C654}" type="presParOf" srcId="{1166E8AC-4345-4CD2-8BB9-BA856F191481}" destId="{1B85EFB5-37C2-467C-B9F4-62680934E5C7}" srcOrd="2" destOrd="0" presId="urn:microsoft.com/office/officeart/2016/7/layout/VerticalDownArrowProcess"/>
    <dgm:cxn modelId="{B4B2FCE8-2378-47AF-A3FA-8FE2D661A00E}" type="presParOf" srcId="{C31D67F9-CADB-42A7-B0CD-CBC6EF41D47A}" destId="{3D73C1BD-D56C-4CB3-8DE8-B897F2073150}" srcOrd="7" destOrd="0" presId="urn:microsoft.com/office/officeart/2016/7/layout/VerticalDownArrowProcess"/>
    <dgm:cxn modelId="{0E9E9809-2A79-4DB8-8F44-57F05983B59B}" type="presParOf" srcId="{C31D67F9-CADB-42A7-B0CD-CBC6EF41D47A}" destId="{E3796B67-23FD-4CEA-AF3E-FAFA94808F21}" srcOrd="8" destOrd="0" presId="urn:microsoft.com/office/officeart/2016/7/layout/VerticalDownArrowProcess"/>
    <dgm:cxn modelId="{CC77F622-0D87-4B87-890F-3BA16D67E490}" type="presParOf" srcId="{E3796B67-23FD-4CEA-AF3E-FAFA94808F21}" destId="{E422CCA4-EC3D-40EA-91FB-C5C7D7338FC7}" srcOrd="0" destOrd="0" presId="urn:microsoft.com/office/officeart/2016/7/layout/VerticalDownArrowProcess"/>
    <dgm:cxn modelId="{03F3D24A-CDBE-4BB8-AAA5-3EEE91C5A775}" type="presParOf" srcId="{E3796B67-23FD-4CEA-AF3E-FAFA94808F21}" destId="{64A6EBEC-0DE5-4ECC-973C-8E98D4CC32CC}" srcOrd="1" destOrd="0" presId="urn:microsoft.com/office/officeart/2016/7/layout/VerticalDownArrowProcess"/>
    <dgm:cxn modelId="{DB903056-AF70-4929-A297-FA4620E4C444}" type="presParOf" srcId="{E3796B67-23FD-4CEA-AF3E-FAFA94808F21}" destId="{2912E294-DE7D-487D-943E-0384B9A89961}"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1DB028-C0B7-4BA0-804F-38F560D1C6D3}">
      <dsp:nvSpPr>
        <dsp:cNvPr id="0" name=""/>
        <dsp:cNvSpPr/>
      </dsp:nvSpPr>
      <dsp:spPr>
        <a:xfrm>
          <a:off x="706578" y="347783"/>
          <a:ext cx="752311" cy="7523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6B7DDA-A041-4814-A4C8-7374E2C35072}">
      <dsp:nvSpPr>
        <dsp:cNvPr id="0" name=""/>
        <dsp:cNvSpPr/>
      </dsp:nvSpPr>
      <dsp:spPr>
        <a:xfrm>
          <a:off x="8003" y="1203340"/>
          <a:ext cx="2149461" cy="443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Product Owner</a:t>
          </a:r>
          <a:r>
            <a:rPr lang="en-US" sz="1400" kern="1200"/>
            <a:t>:</a:t>
          </a:r>
        </a:p>
      </dsp:txBody>
      <dsp:txXfrm>
        <a:off x="8003" y="1203340"/>
        <a:ext cx="2149461" cy="443326"/>
      </dsp:txXfrm>
    </dsp:sp>
    <dsp:sp modelId="{4ABA27E5-9721-4E29-8E68-39AD819FD661}">
      <dsp:nvSpPr>
        <dsp:cNvPr id="0" name=""/>
        <dsp:cNvSpPr/>
      </dsp:nvSpPr>
      <dsp:spPr>
        <a:xfrm>
          <a:off x="8003" y="1694688"/>
          <a:ext cx="2149461" cy="1054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Represents the customer, defines the product backlog, prioritizes features based on value. Ensures that the team is delivering value that aligns with business goals.</a:t>
          </a:r>
        </a:p>
      </dsp:txBody>
      <dsp:txXfrm>
        <a:off x="8003" y="1694688"/>
        <a:ext cx="2149461" cy="1054165"/>
      </dsp:txXfrm>
    </dsp:sp>
    <dsp:sp modelId="{EC97E24B-DE94-4E8D-9D22-CD63FAAAE92E}">
      <dsp:nvSpPr>
        <dsp:cNvPr id="0" name=""/>
        <dsp:cNvSpPr/>
      </dsp:nvSpPr>
      <dsp:spPr>
        <a:xfrm>
          <a:off x="3232195" y="347783"/>
          <a:ext cx="752311" cy="7523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A082F8-7483-4CE1-9484-5C9D06AC7E6E}">
      <dsp:nvSpPr>
        <dsp:cNvPr id="0" name=""/>
        <dsp:cNvSpPr/>
      </dsp:nvSpPr>
      <dsp:spPr>
        <a:xfrm>
          <a:off x="2533620" y="1203340"/>
          <a:ext cx="2149461" cy="443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Scrum Master</a:t>
          </a:r>
          <a:r>
            <a:rPr lang="en-US" sz="1400" kern="1200"/>
            <a:t>:</a:t>
          </a:r>
        </a:p>
      </dsp:txBody>
      <dsp:txXfrm>
        <a:off x="2533620" y="1203340"/>
        <a:ext cx="2149461" cy="443326"/>
      </dsp:txXfrm>
    </dsp:sp>
    <dsp:sp modelId="{03AED2E0-C802-4F88-8E31-84AE2A72EF34}">
      <dsp:nvSpPr>
        <dsp:cNvPr id="0" name=""/>
        <dsp:cNvSpPr/>
      </dsp:nvSpPr>
      <dsp:spPr>
        <a:xfrm>
          <a:off x="2533620" y="1694688"/>
          <a:ext cx="2149461" cy="1054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Facilitates the Scrum process, removes obstacles, and ensures adherence to Agile practices. Supports the team by helping remove roadblocks and fostering a productive environment.</a:t>
          </a:r>
        </a:p>
      </dsp:txBody>
      <dsp:txXfrm>
        <a:off x="2533620" y="1694688"/>
        <a:ext cx="2149461" cy="1054165"/>
      </dsp:txXfrm>
    </dsp:sp>
    <dsp:sp modelId="{4ED74C3F-53A9-493B-97B9-80E6B3DC8839}">
      <dsp:nvSpPr>
        <dsp:cNvPr id="0" name=""/>
        <dsp:cNvSpPr/>
      </dsp:nvSpPr>
      <dsp:spPr>
        <a:xfrm>
          <a:off x="5757812" y="347783"/>
          <a:ext cx="752311" cy="7523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6D7B23-672C-4ADE-B750-F2EA157293BC}">
      <dsp:nvSpPr>
        <dsp:cNvPr id="0" name=""/>
        <dsp:cNvSpPr/>
      </dsp:nvSpPr>
      <dsp:spPr>
        <a:xfrm>
          <a:off x="5059237" y="1203340"/>
          <a:ext cx="2149461" cy="443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Development Team</a:t>
          </a:r>
          <a:r>
            <a:rPr lang="en-US" sz="1400" kern="1200"/>
            <a:t>:</a:t>
          </a:r>
        </a:p>
      </dsp:txBody>
      <dsp:txXfrm>
        <a:off x="5059237" y="1203340"/>
        <a:ext cx="2149461" cy="443326"/>
      </dsp:txXfrm>
    </dsp:sp>
    <dsp:sp modelId="{F76CC86E-220C-4047-AE8B-6DF7F53D7524}">
      <dsp:nvSpPr>
        <dsp:cNvPr id="0" name=""/>
        <dsp:cNvSpPr/>
      </dsp:nvSpPr>
      <dsp:spPr>
        <a:xfrm>
          <a:off x="5059237" y="1694688"/>
          <a:ext cx="2149461" cy="1054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Cross-functional members who do the actual work—designing, coding, testing, etc. Provides the technical expertise and builds the product.</a:t>
          </a:r>
        </a:p>
      </dsp:txBody>
      <dsp:txXfrm>
        <a:off x="5059237" y="1694688"/>
        <a:ext cx="2149461" cy="1054165"/>
      </dsp:txXfrm>
    </dsp:sp>
    <dsp:sp modelId="{7A33CF46-6EA7-42D5-B322-8F9E9B8F7ED0}">
      <dsp:nvSpPr>
        <dsp:cNvPr id="0" name=""/>
        <dsp:cNvSpPr/>
      </dsp:nvSpPr>
      <dsp:spPr>
        <a:xfrm>
          <a:off x="8283429" y="347783"/>
          <a:ext cx="752311" cy="7523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888095-D05C-4D30-84B8-4E6F47A36EDD}">
      <dsp:nvSpPr>
        <dsp:cNvPr id="0" name=""/>
        <dsp:cNvSpPr/>
      </dsp:nvSpPr>
      <dsp:spPr>
        <a:xfrm>
          <a:off x="7584854" y="1203340"/>
          <a:ext cx="2149461" cy="443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Stakeholders</a:t>
          </a:r>
          <a:r>
            <a:rPr lang="en-US" sz="1400" kern="1200"/>
            <a:t> (i.e. users, customers):</a:t>
          </a:r>
        </a:p>
      </dsp:txBody>
      <dsp:txXfrm>
        <a:off x="7584854" y="1203340"/>
        <a:ext cx="2149461" cy="443326"/>
      </dsp:txXfrm>
    </dsp:sp>
    <dsp:sp modelId="{7F8865B3-15B6-4DDE-9CE1-2830E3853F69}">
      <dsp:nvSpPr>
        <dsp:cNvPr id="0" name=""/>
        <dsp:cNvSpPr/>
      </dsp:nvSpPr>
      <dsp:spPr>
        <a:xfrm>
          <a:off x="7584854" y="1694688"/>
          <a:ext cx="2149461" cy="1054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Provide feedback and requirements. Helps guide the team in the right direction through feedback.</a:t>
          </a:r>
        </a:p>
        <a:p>
          <a:pPr marL="57150" lvl="1" indent="-57150" algn="l" defTabSz="488950">
            <a:lnSpc>
              <a:spcPct val="90000"/>
            </a:lnSpc>
            <a:spcBef>
              <a:spcPct val="0"/>
            </a:spcBef>
            <a:spcAft>
              <a:spcPct val="15000"/>
            </a:spcAft>
            <a:buChar char="•"/>
          </a:pPr>
          <a:r>
            <a:rPr lang="en-US" sz="1100" kern="1200"/>
            <a:t>Source: </a:t>
          </a:r>
          <a:r>
            <a:rPr lang="en-US" sz="1100" i="1" kern="1200"/>
            <a:t>Schwaber, K. (2004). Agile Project Management with Scrum.</a:t>
          </a:r>
          <a:r>
            <a:rPr lang="en-US" sz="1100" kern="1200"/>
            <a:t> Microsoft Press.</a:t>
          </a:r>
        </a:p>
      </dsp:txBody>
      <dsp:txXfrm>
        <a:off x="7584854" y="1694688"/>
        <a:ext cx="2149461" cy="10541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603B3C-FB9D-4966-9B5D-3AA8047CB7D6}">
      <dsp:nvSpPr>
        <dsp:cNvPr id="0" name=""/>
        <dsp:cNvSpPr/>
      </dsp:nvSpPr>
      <dsp:spPr>
        <a:xfrm>
          <a:off x="0" y="4383766"/>
          <a:ext cx="1623218" cy="719193"/>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443" tIns="177800" rIns="115443" bIns="177800" numCol="1" spcCol="1270" anchor="ctr" anchorCtr="0">
          <a:noAutofit/>
        </a:bodyPr>
        <a:lstStyle/>
        <a:p>
          <a:pPr marL="0" lvl="0" indent="0" algn="ctr" defTabSz="1111250">
            <a:lnSpc>
              <a:spcPct val="90000"/>
            </a:lnSpc>
            <a:spcBef>
              <a:spcPct val="0"/>
            </a:spcBef>
            <a:spcAft>
              <a:spcPct val="35000"/>
            </a:spcAft>
            <a:buNone/>
          </a:pPr>
          <a:r>
            <a:rPr lang="en-US" sz="2500" kern="1200"/>
            <a:t>Sprint</a:t>
          </a:r>
        </a:p>
      </dsp:txBody>
      <dsp:txXfrm>
        <a:off x="0" y="4383766"/>
        <a:ext cx="1623218" cy="719193"/>
      </dsp:txXfrm>
    </dsp:sp>
    <dsp:sp modelId="{4BA482FC-54BF-4B55-AD3B-F6282DC9668A}">
      <dsp:nvSpPr>
        <dsp:cNvPr id="0" name=""/>
        <dsp:cNvSpPr/>
      </dsp:nvSpPr>
      <dsp:spPr>
        <a:xfrm>
          <a:off x="1623218" y="4383766"/>
          <a:ext cx="4869656" cy="719193"/>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8780" tIns="139700" rIns="98780" bIns="139700" numCol="1" spcCol="1270" anchor="t" anchorCtr="0">
          <a:noAutofit/>
        </a:bodyPr>
        <a:lstStyle/>
        <a:p>
          <a:pPr marL="0" lvl="0" indent="0" algn="l" defTabSz="488950">
            <a:lnSpc>
              <a:spcPct val="90000"/>
            </a:lnSpc>
            <a:spcBef>
              <a:spcPct val="0"/>
            </a:spcBef>
            <a:spcAft>
              <a:spcPct val="35000"/>
            </a:spcAft>
            <a:buNone/>
          </a:pPr>
          <a:r>
            <a:rPr lang="en-US" sz="1100" kern="1200"/>
            <a:t>Sprint Retrospective:</a:t>
          </a:r>
        </a:p>
        <a:p>
          <a:pPr marL="57150" lvl="1" indent="-57150" algn="l" defTabSz="400050">
            <a:lnSpc>
              <a:spcPct val="90000"/>
            </a:lnSpc>
            <a:spcBef>
              <a:spcPct val="0"/>
            </a:spcBef>
            <a:spcAft>
              <a:spcPct val="15000"/>
            </a:spcAft>
            <a:buChar char="•"/>
          </a:pPr>
          <a:r>
            <a:rPr lang="en-US" sz="900" kern="1200"/>
            <a:t>Reflecting on the sprint to improve processes for the next sprint. Continuous improvement of the team's processes and product quality.</a:t>
          </a:r>
        </a:p>
      </dsp:txBody>
      <dsp:txXfrm>
        <a:off x="1623218" y="4383766"/>
        <a:ext cx="4869656" cy="719193"/>
      </dsp:txXfrm>
    </dsp:sp>
    <dsp:sp modelId="{869FD206-0F34-474D-AFCD-7E828D3BF50C}">
      <dsp:nvSpPr>
        <dsp:cNvPr id="0" name=""/>
        <dsp:cNvSpPr/>
      </dsp:nvSpPr>
      <dsp:spPr>
        <a:xfrm rot="10800000">
          <a:off x="0" y="3288434"/>
          <a:ext cx="1623218" cy="110611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443" tIns="177800" rIns="115443" bIns="177800" numCol="1" spcCol="1270" anchor="ctr" anchorCtr="0">
          <a:noAutofit/>
        </a:bodyPr>
        <a:lstStyle/>
        <a:p>
          <a:pPr marL="0" lvl="0" indent="0" algn="ctr" defTabSz="1111250">
            <a:lnSpc>
              <a:spcPct val="90000"/>
            </a:lnSpc>
            <a:spcBef>
              <a:spcPct val="0"/>
            </a:spcBef>
            <a:spcAft>
              <a:spcPct val="35000"/>
            </a:spcAft>
            <a:buNone/>
          </a:pPr>
          <a:r>
            <a:rPr lang="en-US" sz="2500" kern="1200"/>
            <a:t>Sprint</a:t>
          </a:r>
        </a:p>
      </dsp:txBody>
      <dsp:txXfrm rot="-10800000">
        <a:off x="0" y="3288434"/>
        <a:ext cx="1623218" cy="718977"/>
      </dsp:txXfrm>
    </dsp:sp>
    <dsp:sp modelId="{2561E964-631A-4BD5-9630-4EFA130174CD}">
      <dsp:nvSpPr>
        <dsp:cNvPr id="0" name=""/>
        <dsp:cNvSpPr/>
      </dsp:nvSpPr>
      <dsp:spPr>
        <a:xfrm>
          <a:off x="1623218" y="3288434"/>
          <a:ext cx="4869656" cy="71897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8780" tIns="139700" rIns="98780" bIns="139700" numCol="1" spcCol="1270" anchor="t" anchorCtr="0">
          <a:noAutofit/>
        </a:bodyPr>
        <a:lstStyle/>
        <a:p>
          <a:pPr marL="0" lvl="0" indent="0" algn="l" defTabSz="488950">
            <a:lnSpc>
              <a:spcPct val="90000"/>
            </a:lnSpc>
            <a:spcBef>
              <a:spcPct val="0"/>
            </a:spcBef>
            <a:spcAft>
              <a:spcPct val="35000"/>
            </a:spcAft>
            <a:buNone/>
          </a:pPr>
          <a:r>
            <a:rPr lang="en-US" sz="1100" kern="1200"/>
            <a:t>Sprint Review:</a:t>
          </a:r>
        </a:p>
        <a:p>
          <a:pPr marL="57150" lvl="1" indent="-57150" algn="l" defTabSz="400050">
            <a:lnSpc>
              <a:spcPct val="90000"/>
            </a:lnSpc>
            <a:spcBef>
              <a:spcPct val="0"/>
            </a:spcBef>
            <a:spcAft>
              <a:spcPct val="15000"/>
            </a:spcAft>
            <a:buChar char="•"/>
          </a:pPr>
          <a:r>
            <a:rPr lang="en-US" sz="900" kern="1200"/>
            <a:t>Team demonstrates the work done to the stakeholders. Ensures the product is on track with the user’s needs and expectations.</a:t>
          </a:r>
        </a:p>
      </dsp:txBody>
      <dsp:txXfrm>
        <a:off x="1623218" y="3288434"/>
        <a:ext cx="4869656" cy="718977"/>
      </dsp:txXfrm>
    </dsp:sp>
    <dsp:sp modelId="{F948197B-9264-41E3-92B1-2102DC6B38AC}">
      <dsp:nvSpPr>
        <dsp:cNvPr id="0" name=""/>
        <dsp:cNvSpPr/>
      </dsp:nvSpPr>
      <dsp:spPr>
        <a:xfrm rot="10800000">
          <a:off x="0" y="2193103"/>
          <a:ext cx="1623218" cy="110611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443" tIns="177800" rIns="115443" bIns="177800" numCol="1" spcCol="1270" anchor="ctr" anchorCtr="0">
          <a:noAutofit/>
        </a:bodyPr>
        <a:lstStyle/>
        <a:p>
          <a:pPr marL="0" lvl="0" indent="0" algn="ctr" defTabSz="1111250">
            <a:lnSpc>
              <a:spcPct val="90000"/>
            </a:lnSpc>
            <a:spcBef>
              <a:spcPct val="0"/>
            </a:spcBef>
            <a:spcAft>
              <a:spcPct val="35000"/>
            </a:spcAft>
            <a:buNone/>
          </a:pPr>
          <a:r>
            <a:rPr lang="en-US" sz="2500" kern="1200"/>
            <a:t>Scrum</a:t>
          </a:r>
        </a:p>
      </dsp:txBody>
      <dsp:txXfrm rot="-10800000">
        <a:off x="0" y="2193103"/>
        <a:ext cx="1623218" cy="718977"/>
      </dsp:txXfrm>
    </dsp:sp>
    <dsp:sp modelId="{BA6B43C7-997B-4782-B206-232278805966}">
      <dsp:nvSpPr>
        <dsp:cNvPr id="0" name=""/>
        <dsp:cNvSpPr/>
      </dsp:nvSpPr>
      <dsp:spPr>
        <a:xfrm>
          <a:off x="1623218" y="2193103"/>
          <a:ext cx="4869656" cy="71897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8780" tIns="139700" rIns="98780" bIns="139700" numCol="1" spcCol="1270" anchor="t" anchorCtr="0">
          <a:noAutofit/>
        </a:bodyPr>
        <a:lstStyle/>
        <a:p>
          <a:pPr marL="0" lvl="0" indent="0" algn="l" defTabSz="488950">
            <a:lnSpc>
              <a:spcPct val="90000"/>
            </a:lnSpc>
            <a:spcBef>
              <a:spcPct val="0"/>
            </a:spcBef>
            <a:spcAft>
              <a:spcPct val="35000"/>
            </a:spcAft>
            <a:buNone/>
          </a:pPr>
          <a:r>
            <a:rPr lang="en-US" sz="1100" kern="1200"/>
            <a:t>Daily Scrum:</a:t>
          </a:r>
        </a:p>
        <a:p>
          <a:pPr marL="57150" lvl="1" indent="-57150" algn="l" defTabSz="400050">
            <a:lnSpc>
              <a:spcPct val="90000"/>
            </a:lnSpc>
            <a:spcBef>
              <a:spcPct val="0"/>
            </a:spcBef>
            <a:spcAft>
              <a:spcPct val="15000"/>
            </a:spcAft>
            <a:buChar char="•"/>
          </a:pPr>
          <a:r>
            <a:rPr lang="en-US" sz="900" kern="1200"/>
            <a:t>Daily 15-minute meeting to discuss progress, obstacles, and goals. Keeps the team aligned and identifies blockers early.</a:t>
          </a:r>
        </a:p>
      </dsp:txBody>
      <dsp:txXfrm>
        <a:off x="1623218" y="2193103"/>
        <a:ext cx="4869656" cy="718977"/>
      </dsp:txXfrm>
    </dsp:sp>
    <dsp:sp modelId="{E5229416-C380-4B79-A516-31C9BA7A8D14}">
      <dsp:nvSpPr>
        <dsp:cNvPr id="0" name=""/>
        <dsp:cNvSpPr/>
      </dsp:nvSpPr>
      <dsp:spPr>
        <a:xfrm rot="10800000">
          <a:off x="0" y="1097771"/>
          <a:ext cx="1623218" cy="110611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443" tIns="177800" rIns="115443" bIns="177800" numCol="1" spcCol="1270" anchor="ctr" anchorCtr="0">
          <a:noAutofit/>
        </a:bodyPr>
        <a:lstStyle/>
        <a:p>
          <a:pPr marL="0" lvl="0" indent="0" algn="ctr" defTabSz="1111250">
            <a:lnSpc>
              <a:spcPct val="90000"/>
            </a:lnSpc>
            <a:spcBef>
              <a:spcPct val="0"/>
            </a:spcBef>
            <a:spcAft>
              <a:spcPct val="35000"/>
            </a:spcAft>
            <a:buNone/>
          </a:pPr>
          <a:r>
            <a:rPr lang="en-US" sz="2500" kern="1200"/>
            <a:t>Sprint</a:t>
          </a:r>
        </a:p>
      </dsp:txBody>
      <dsp:txXfrm rot="-10800000">
        <a:off x="0" y="1097771"/>
        <a:ext cx="1623218" cy="718977"/>
      </dsp:txXfrm>
    </dsp:sp>
    <dsp:sp modelId="{1B85EFB5-37C2-467C-B9F4-62680934E5C7}">
      <dsp:nvSpPr>
        <dsp:cNvPr id="0" name=""/>
        <dsp:cNvSpPr/>
      </dsp:nvSpPr>
      <dsp:spPr>
        <a:xfrm>
          <a:off x="1623218" y="1097771"/>
          <a:ext cx="4869656" cy="71897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8780" tIns="139700" rIns="98780" bIns="139700" numCol="1" spcCol="1270" anchor="t" anchorCtr="0">
          <a:noAutofit/>
        </a:bodyPr>
        <a:lstStyle/>
        <a:p>
          <a:pPr marL="0" lvl="0" indent="0" algn="l" defTabSz="488950">
            <a:lnSpc>
              <a:spcPct val="90000"/>
            </a:lnSpc>
            <a:spcBef>
              <a:spcPct val="0"/>
            </a:spcBef>
            <a:spcAft>
              <a:spcPct val="35000"/>
            </a:spcAft>
            <a:buNone/>
          </a:pPr>
          <a:r>
            <a:rPr lang="en-US" sz="1100" kern="1200"/>
            <a:t>Sprint Execution:</a:t>
          </a:r>
        </a:p>
        <a:p>
          <a:pPr marL="57150" lvl="1" indent="-57150" algn="l" defTabSz="400050">
            <a:lnSpc>
              <a:spcPct val="90000"/>
            </a:lnSpc>
            <a:spcBef>
              <a:spcPct val="0"/>
            </a:spcBef>
            <a:spcAft>
              <a:spcPct val="15000"/>
            </a:spcAft>
            <a:buChar char="•"/>
          </a:pPr>
          <a:r>
            <a:rPr lang="en-US" sz="900" kern="1200"/>
            <a:t>Developers work on tasks in the sprint backlog. Actual development, testing, and integration of features.</a:t>
          </a:r>
        </a:p>
      </dsp:txBody>
      <dsp:txXfrm>
        <a:off x="1623218" y="1097771"/>
        <a:ext cx="4869656" cy="718977"/>
      </dsp:txXfrm>
    </dsp:sp>
    <dsp:sp modelId="{64A6EBEC-0DE5-4ECC-973C-8E98D4CC32CC}">
      <dsp:nvSpPr>
        <dsp:cNvPr id="0" name=""/>
        <dsp:cNvSpPr/>
      </dsp:nvSpPr>
      <dsp:spPr>
        <a:xfrm rot="10800000">
          <a:off x="0" y="2440"/>
          <a:ext cx="1623218" cy="110611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443" tIns="177800" rIns="115443" bIns="177800" numCol="1" spcCol="1270" anchor="ctr" anchorCtr="0">
          <a:noAutofit/>
        </a:bodyPr>
        <a:lstStyle/>
        <a:p>
          <a:pPr marL="0" lvl="0" indent="0" algn="ctr" defTabSz="1111250">
            <a:lnSpc>
              <a:spcPct val="90000"/>
            </a:lnSpc>
            <a:spcBef>
              <a:spcPct val="0"/>
            </a:spcBef>
            <a:spcAft>
              <a:spcPct val="35000"/>
            </a:spcAft>
            <a:buNone/>
          </a:pPr>
          <a:r>
            <a:rPr lang="en-US" sz="2500" kern="1200"/>
            <a:t>Planning</a:t>
          </a:r>
        </a:p>
      </dsp:txBody>
      <dsp:txXfrm rot="-10800000">
        <a:off x="0" y="2440"/>
        <a:ext cx="1623218" cy="718977"/>
      </dsp:txXfrm>
    </dsp:sp>
    <dsp:sp modelId="{2912E294-DE7D-487D-943E-0384B9A89961}">
      <dsp:nvSpPr>
        <dsp:cNvPr id="0" name=""/>
        <dsp:cNvSpPr/>
      </dsp:nvSpPr>
      <dsp:spPr>
        <a:xfrm>
          <a:off x="1623218" y="2440"/>
          <a:ext cx="4869656" cy="71897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8780" tIns="139700" rIns="98780" bIns="139700" numCol="1" spcCol="1270" anchor="t" anchorCtr="0">
          <a:noAutofit/>
        </a:bodyPr>
        <a:lstStyle/>
        <a:p>
          <a:pPr marL="0" lvl="0" indent="0" algn="l" defTabSz="488950">
            <a:lnSpc>
              <a:spcPct val="90000"/>
            </a:lnSpc>
            <a:spcBef>
              <a:spcPct val="0"/>
            </a:spcBef>
            <a:spcAft>
              <a:spcPct val="35000"/>
            </a:spcAft>
            <a:buNone/>
          </a:pPr>
          <a:r>
            <a:rPr lang="en-US" sz="1100" kern="1200"/>
            <a:t>Sprint Planning:</a:t>
          </a:r>
        </a:p>
        <a:p>
          <a:pPr marL="57150" lvl="1" indent="-57150" algn="l" defTabSz="400050">
            <a:lnSpc>
              <a:spcPct val="90000"/>
            </a:lnSpc>
            <a:spcBef>
              <a:spcPct val="0"/>
            </a:spcBef>
            <a:spcAft>
              <a:spcPct val="15000"/>
            </a:spcAft>
            <a:buChar char="•"/>
          </a:pPr>
          <a:r>
            <a:rPr lang="en-US" sz="900" kern="1200"/>
            <a:t>The team and Product Owner agree on the sprint goals and backlog items. Establishes a clear direction for the sprint.</a:t>
          </a:r>
        </a:p>
      </dsp:txBody>
      <dsp:txXfrm>
        <a:off x="1623218" y="2440"/>
        <a:ext cx="4869656" cy="718977"/>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C743F4-8769-40B4-85DF-6CB8DE9F66AA}" type="datetimeFigureOut">
              <a:rPr lang="en-US" smtClean="0"/>
              <a:t>2/23/2025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204963824"/>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743F4-8769-40B4-85DF-6CB8DE9F66AA}"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875363345"/>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743F4-8769-40B4-85DF-6CB8DE9F66AA}"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558250147"/>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C743F4-8769-40B4-85DF-6CB8DE9F66AA}"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204845332"/>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C743F4-8769-40B4-85DF-6CB8DE9F66AA}" type="datetimeFigureOut">
              <a:rPr lang="en-US" smtClean="0"/>
              <a:t>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461254932"/>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C743F4-8769-40B4-85DF-6CB8DE9F66AA}" type="datetimeFigureOut">
              <a:rPr lang="en-US" smtClean="0"/>
              <a:t>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533264437"/>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C743F4-8769-40B4-85DF-6CB8DE9F66AA}" type="datetimeFigureOut">
              <a:rPr lang="en-US" smtClean="0"/>
              <a:t>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953241917"/>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C743F4-8769-40B4-85DF-6CB8DE9F66AA}"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5379793"/>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C743F4-8769-40B4-85DF-6CB8DE9F66AA}"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943488066"/>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C743F4-8769-40B4-85DF-6CB8DE9F66AA}" type="datetimeFigureOut">
              <a:rPr lang="en-US" smtClean="0"/>
              <a:pPr/>
              <a:t>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3126580937"/>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743F4-8769-40B4-85DF-6CB8DE9F66AA}" type="datetimeFigureOut">
              <a:rPr lang="en-US" smtClean="0"/>
              <a:pPr/>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1785918600"/>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743F4-8769-40B4-85DF-6CB8DE9F66AA}" type="datetimeFigureOut">
              <a:rPr lang="en-US" smtClean="0"/>
              <a:pPr/>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292716156"/>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743F4-8769-40B4-85DF-6CB8DE9F66AA}" type="datetimeFigureOut">
              <a:rPr lang="en-US" smtClean="0"/>
              <a:pPr/>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2957331135"/>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743F4-8769-40B4-85DF-6CB8DE9F66AA}" type="datetimeFigureOut">
              <a:rPr lang="en-US" smtClean="0"/>
              <a:pPr/>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3794511873"/>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743F4-8769-40B4-85DF-6CB8DE9F66AA}" type="datetimeFigureOut">
              <a:rPr lang="en-US" smtClean="0"/>
              <a:pPr/>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4251000529"/>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743F4-8769-40B4-85DF-6CB8DE9F66AA}"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298119824"/>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743F4-8769-40B4-85DF-6CB8DE9F66AA}"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283820418"/>
      </p:ext>
    </p:extLst>
  </p:cSld>
  <p:clrMapOvr>
    <a:masterClrMapping/>
  </p:clrMapOvr>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EC743F4-8769-40B4-85DF-6CB8DE9F66AA}" type="datetimeFigureOut">
              <a:rPr lang="en-US" smtClean="0"/>
              <a:pPr/>
              <a:t>2/23/2025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3594157467"/>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mc:AlternateContent xmlns:mc="http://schemas.openxmlformats.org/markup-compatibility/2006">
    <mc:Choice xmlns:p159="http://schemas.microsoft.com/office/powerpoint/2015/09/main" Requires="p159">
      <p:transition spd="slow" advClick="0" advTm="2000">
        <p159:morph option="byObject"/>
      </p:transition>
    </mc:Choice>
    <mc:Fallback>
      <p:transition spd="slow" advClick="0" advTm="2000">
        <p:fade/>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CD9ACDE-8038-488C-AB0C-5FD1A373C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4C7261-B548-9574-207F-6A4B2DF07A90}"/>
              </a:ext>
            </a:extLst>
          </p:cNvPr>
          <p:cNvSpPr>
            <a:spLocks noGrp="1"/>
          </p:cNvSpPr>
          <p:nvPr>
            <p:ph type="ctrTitle"/>
          </p:nvPr>
        </p:nvSpPr>
        <p:spPr>
          <a:xfrm>
            <a:off x="3854450" y="965200"/>
            <a:ext cx="7372350" cy="3404680"/>
          </a:xfrm>
        </p:spPr>
        <p:txBody>
          <a:bodyPr>
            <a:normAutofit/>
          </a:bodyPr>
          <a:lstStyle/>
          <a:p>
            <a:pPr algn="l"/>
            <a:r>
              <a:rPr lang="en-US"/>
              <a:t>Scrumming</a:t>
            </a:r>
          </a:p>
        </p:txBody>
      </p:sp>
      <p:sp>
        <p:nvSpPr>
          <p:cNvPr id="3" name="Subtitle 2">
            <a:extLst>
              <a:ext uri="{FF2B5EF4-FFF2-40B4-BE49-F238E27FC236}">
                <a16:creationId xmlns:a16="http://schemas.microsoft.com/office/drawing/2014/main" id="{36B5F2EC-ADA1-49E9-B63D-069253C40ED3}"/>
              </a:ext>
            </a:extLst>
          </p:cNvPr>
          <p:cNvSpPr>
            <a:spLocks noGrp="1"/>
          </p:cNvSpPr>
          <p:nvPr>
            <p:ph type="subTitle" idx="1"/>
          </p:nvPr>
        </p:nvSpPr>
        <p:spPr>
          <a:xfrm>
            <a:off x="3854450" y="4503906"/>
            <a:ext cx="7372350" cy="1388892"/>
          </a:xfrm>
        </p:spPr>
        <p:txBody>
          <a:bodyPr>
            <a:normAutofit/>
          </a:bodyPr>
          <a:lstStyle/>
          <a:p>
            <a:pPr algn="l">
              <a:lnSpc>
                <a:spcPct val="90000"/>
              </a:lnSpc>
            </a:pPr>
            <a:r>
              <a:rPr lang="en-US" sz="1600"/>
              <a:t>A Comparison: Agile vs Waterfall development</a:t>
            </a:r>
          </a:p>
          <a:p>
            <a:pPr algn="l">
              <a:lnSpc>
                <a:spcPct val="90000"/>
              </a:lnSpc>
            </a:pPr>
            <a:r>
              <a:rPr lang="en-US" sz="1600"/>
              <a:t>CS-250 </a:t>
            </a:r>
          </a:p>
          <a:p>
            <a:pPr algn="l">
              <a:lnSpc>
                <a:spcPct val="90000"/>
              </a:lnSpc>
            </a:pPr>
            <a:r>
              <a:rPr lang="en-US" sz="1600"/>
              <a:t>By: Tommy Reid</a:t>
            </a:r>
          </a:p>
          <a:p>
            <a:pPr algn="l">
              <a:lnSpc>
                <a:spcPct val="90000"/>
              </a:lnSpc>
            </a:pPr>
            <a:r>
              <a:rPr lang="en-US" sz="1600"/>
              <a:t>02-23-2025</a:t>
            </a:r>
          </a:p>
        </p:txBody>
      </p:sp>
      <p:sp>
        <p:nvSpPr>
          <p:cNvPr id="31" name="Rectangle 30">
            <a:extLst>
              <a:ext uri="{FF2B5EF4-FFF2-40B4-BE49-F238E27FC236}">
                <a16:creationId xmlns:a16="http://schemas.microsoft.com/office/drawing/2014/main" id="{DA6C2449-5F66-4753-AAA3-4AD81E57A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33" name="Group 32">
            <a:extLst>
              <a:ext uri="{FF2B5EF4-FFF2-40B4-BE49-F238E27FC236}">
                <a16:creationId xmlns:a16="http://schemas.microsoft.com/office/drawing/2014/main" id="{329F7DAB-18F4-436A-A0D8-61013DEB6F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1424" y="1"/>
            <a:ext cx="3258129" cy="6858000"/>
            <a:chOff x="141424" y="1"/>
            <a:chExt cx="3258129" cy="6858000"/>
          </a:xfrm>
        </p:grpSpPr>
        <p:sp>
          <p:nvSpPr>
            <p:cNvPr id="34" name="Freeform 6">
              <a:extLst>
                <a:ext uri="{FF2B5EF4-FFF2-40B4-BE49-F238E27FC236}">
                  <a16:creationId xmlns:a16="http://schemas.microsoft.com/office/drawing/2014/main" id="{AA2A446D-5444-4251-A0C1-1C33937BB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1"/>
              <a:ext cx="858884" cy="2780957"/>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n-US"/>
            </a:p>
          </p:txBody>
        </p:sp>
        <p:sp>
          <p:nvSpPr>
            <p:cNvPr id="35" name="Freeform 7">
              <a:extLst>
                <a:ext uri="{FF2B5EF4-FFF2-40B4-BE49-F238E27FC236}">
                  <a16:creationId xmlns:a16="http://schemas.microsoft.com/office/drawing/2014/main" id="{E013EF53-9F7F-40D2-9E88-917DCF643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1"/>
              <a:ext cx="835810" cy="2671495"/>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36" name="Freeform 12">
              <a:extLst>
                <a:ext uri="{FF2B5EF4-FFF2-40B4-BE49-F238E27FC236}">
                  <a16:creationId xmlns:a16="http://schemas.microsoft.com/office/drawing/2014/main" id="{210AE139-2815-4F3D-A56C-2608DB3D7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5830"/>
              <a:ext cx="2175413" cy="4272171"/>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37" name="Freeform 13">
              <a:extLst>
                <a:ext uri="{FF2B5EF4-FFF2-40B4-BE49-F238E27FC236}">
                  <a16:creationId xmlns:a16="http://schemas.microsoft.com/office/drawing/2014/main" id="{7C52B438-B53F-4BCB-A9A8-183E8815A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9078" y="2695292"/>
              <a:ext cx="2690743" cy="4162709"/>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38" name="Freeform: Shape 37">
              <a:extLst>
                <a:ext uri="{FF2B5EF4-FFF2-40B4-BE49-F238E27FC236}">
                  <a16:creationId xmlns:a16="http://schemas.microsoft.com/office/drawing/2014/main" id="{557375C8-AF41-41DF-8F04-72401D4B9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2690532"/>
              <a:ext cx="2904320" cy="4167469"/>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n-US"/>
            </a:p>
          </p:txBody>
        </p:sp>
        <p:sp>
          <p:nvSpPr>
            <p:cNvPr id="39" name="Freeform 15">
              <a:extLst>
                <a:ext uri="{FF2B5EF4-FFF2-40B4-BE49-F238E27FC236}">
                  <a16:creationId xmlns:a16="http://schemas.microsoft.com/office/drawing/2014/main" id="{1B37C1D7-483C-4CD7-85AB-F4EEA6E57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1071"/>
              <a:ext cx="2894568" cy="427693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Tree>
    <p:extLst>
      <p:ext uri="{BB962C8B-B14F-4D97-AF65-F5344CB8AC3E}">
        <p14:creationId xmlns:p14="http://schemas.microsoft.com/office/powerpoint/2010/main" val="15287490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38"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42"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3"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4"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5"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6"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7"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7C859E60-B00B-4B72-FF49-27692B2FF950}"/>
              </a:ext>
            </a:extLst>
          </p:cNvPr>
          <p:cNvSpPr>
            <a:spLocks noGrp="1"/>
          </p:cNvSpPr>
          <p:nvPr>
            <p:ph type="title"/>
          </p:nvPr>
        </p:nvSpPr>
        <p:spPr>
          <a:xfrm>
            <a:off x="3962399" y="685800"/>
            <a:ext cx="7345891" cy="1413933"/>
          </a:xfrm>
        </p:spPr>
        <p:txBody>
          <a:bodyPr>
            <a:normAutofit/>
          </a:bodyPr>
          <a:lstStyle/>
          <a:p>
            <a:r>
              <a:rPr lang="en-US"/>
              <a:t>Introduction</a:t>
            </a:r>
            <a:br>
              <a:rPr lang="en-US"/>
            </a:br>
            <a:r>
              <a:rPr lang="en-US"/>
              <a:t> Agile &amp; Waterfall</a:t>
            </a:r>
          </a:p>
        </p:txBody>
      </p:sp>
      <p:pic>
        <p:nvPicPr>
          <p:cNvPr id="24" name="Picture 23" descr="Cascade of waterfalls">
            <a:extLst>
              <a:ext uri="{FF2B5EF4-FFF2-40B4-BE49-F238E27FC236}">
                <a16:creationId xmlns:a16="http://schemas.microsoft.com/office/drawing/2014/main" id="{B2B0954E-C552-42B1-ADC3-F431DF5003C9}"/>
              </a:ext>
            </a:extLst>
          </p:cNvPr>
          <p:cNvPicPr>
            <a:picLocks noChangeAspect="1"/>
          </p:cNvPicPr>
          <p:nvPr/>
        </p:nvPicPr>
        <p:blipFill>
          <a:blip r:embed="rId3"/>
          <a:srcRect l="23189" r="43142" b="-1"/>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6EB99A65-79BB-B935-E18C-EB4E0111F5E8}"/>
              </a:ext>
            </a:extLst>
          </p:cNvPr>
          <p:cNvSpPr>
            <a:spLocks noGrp="1"/>
          </p:cNvSpPr>
          <p:nvPr>
            <p:ph idx="1"/>
          </p:nvPr>
        </p:nvSpPr>
        <p:spPr>
          <a:xfrm>
            <a:off x="3843867" y="2048933"/>
            <a:ext cx="7659156" cy="3742267"/>
          </a:xfrm>
        </p:spPr>
        <p:txBody>
          <a:bodyPr>
            <a:normAutofit/>
          </a:bodyPr>
          <a:lstStyle/>
          <a:p>
            <a:pPr marL="0" marR="0" lvl="0" indent="0">
              <a:spcBef>
                <a:spcPts val="0"/>
              </a:spcBef>
              <a:buSzPts val="1000"/>
              <a:buNone/>
              <a:tabLst>
                <a:tab pos="457200" algn="l"/>
              </a:tabLst>
            </a:pPr>
            <a:r>
              <a:rPr lang="en-US" kern="100">
                <a:effectLst/>
                <a:ea typeface="Aptos" panose="020B0004020202020204" pitchFamily="34" charset="0"/>
                <a:cs typeface="Times New Roman" panose="02020603050405020304" pitchFamily="18" charset="0"/>
              </a:rPr>
              <a:t>Purpose: Comparing Agile with the Waterfall development methodology.</a:t>
            </a:r>
          </a:p>
          <a:p>
            <a:pPr marL="0" marR="0" lvl="0" indent="0">
              <a:spcBef>
                <a:spcPts val="0"/>
              </a:spcBef>
              <a:buSzPts val="1000"/>
              <a:buNone/>
              <a:tabLst>
                <a:tab pos="457200" algn="l"/>
              </a:tabLst>
            </a:pPr>
            <a:endParaRPr lang="en-US" kern="100">
              <a:effectLst/>
              <a:ea typeface="Aptos" panose="020B0004020202020204" pitchFamily="34" charset="0"/>
              <a:cs typeface="Times New Roman" panose="02020603050405020304" pitchFamily="18" charset="0"/>
            </a:endParaRPr>
          </a:p>
          <a:p>
            <a:pPr lvl="1">
              <a:spcBef>
                <a:spcPts val="0"/>
              </a:spcBef>
              <a:buSzPts val="1000"/>
              <a:tabLst>
                <a:tab pos="457200" algn="l"/>
              </a:tabLst>
            </a:pPr>
            <a:r>
              <a:rPr lang="en-US" kern="100" dirty="0">
                <a:effectLst/>
                <a:ea typeface="Aptos" panose="020B0004020202020204" pitchFamily="34" charset="0"/>
                <a:cs typeface="Times New Roman" panose="02020603050405020304" pitchFamily="18" charset="0"/>
              </a:rPr>
              <a:t>Defining Agile and Waterfall methodology</a:t>
            </a:r>
            <a:endParaRPr lang="en-US" kern="100">
              <a:effectLst/>
              <a:ea typeface="Aptos" panose="020B0004020202020204" pitchFamily="34" charset="0"/>
              <a:cs typeface="Times New Roman" panose="02020603050405020304" pitchFamily="18" charset="0"/>
            </a:endParaRPr>
          </a:p>
          <a:p>
            <a:pPr lvl="1">
              <a:spcBef>
                <a:spcPts val="0"/>
              </a:spcBef>
              <a:buSzPts val="1000"/>
              <a:tabLst>
                <a:tab pos="457200" algn="l"/>
              </a:tabLst>
            </a:pPr>
            <a:r>
              <a:rPr lang="en-US" kern="100" dirty="0">
                <a:ea typeface="Aptos" panose="020B0004020202020204" pitchFamily="34" charset="0"/>
                <a:cs typeface="Times New Roman" panose="02020603050405020304" pitchFamily="18" charset="0"/>
              </a:rPr>
              <a:t>Roles and responsibilities</a:t>
            </a:r>
            <a:endParaRPr lang="en-US" kern="100">
              <a:ea typeface="Aptos" panose="020B0004020202020204" pitchFamily="34" charset="0"/>
              <a:cs typeface="Times New Roman" panose="02020603050405020304" pitchFamily="18" charset="0"/>
            </a:endParaRPr>
          </a:p>
          <a:p>
            <a:pPr lvl="1">
              <a:spcBef>
                <a:spcPts val="0"/>
              </a:spcBef>
              <a:buSzPts val="1000"/>
              <a:tabLst>
                <a:tab pos="457200" algn="l"/>
              </a:tabLst>
            </a:pPr>
            <a:r>
              <a:rPr lang="en-US" kern="100" dirty="0">
                <a:ea typeface="Aptos" panose="020B0004020202020204" pitchFamily="34" charset="0"/>
                <a:cs typeface="Times New Roman" panose="02020603050405020304" pitchFamily="18" charset="0"/>
              </a:rPr>
              <a:t>Different phase descriptions</a:t>
            </a:r>
            <a:endParaRPr lang="en-US" kern="100">
              <a:ea typeface="Aptos" panose="020B0004020202020204" pitchFamily="34" charset="0"/>
              <a:cs typeface="Times New Roman" panose="02020603050405020304" pitchFamily="18" charset="0"/>
            </a:endParaRPr>
          </a:p>
          <a:p>
            <a:pPr lvl="1">
              <a:spcBef>
                <a:spcPts val="0"/>
              </a:spcBef>
              <a:buSzPts val="1000"/>
              <a:tabLst>
                <a:tab pos="457200" algn="l"/>
              </a:tabLst>
            </a:pPr>
            <a:r>
              <a:rPr lang="en-US" kern="100" dirty="0">
                <a:ea typeface="Aptos" panose="020B0004020202020204" pitchFamily="34" charset="0"/>
                <a:cs typeface="Times New Roman" panose="02020603050405020304" pitchFamily="18" charset="0"/>
              </a:rPr>
              <a:t>How/When to decide which approach to take</a:t>
            </a:r>
            <a:endParaRPr lang="en-US" kern="10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7279254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ople at the meeting desk">
            <a:extLst>
              <a:ext uri="{FF2B5EF4-FFF2-40B4-BE49-F238E27FC236}">
                <a16:creationId xmlns:a16="http://schemas.microsoft.com/office/drawing/2014/main" id="{198C9557-9706-5A05-544A-90B014FB4AAC}"/>
              </a:ext>
            </a:extLst>
          </p:cNvPr>
          <p:cNvPicPr>
            <a:picLocks noChangeAspect="1"/>
          </p:cNvPicPr>
          <p:nvPr/>
        </p:nvPicPr>
        <p:blipFill>
          <a:blip r:embed="rId3"/>
          <a:srcRect l="23567" r="32969"/>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11" name="Group 10">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2"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3"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4"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5"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6"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7"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A0D44BDD-C70D-2641-2D0A-789ADDD3C982}"/>
              </a:ext>
            </a:extLst>
          </p:cNvPr>
          <p:cNvSpPr>
            <a:spLocks noGrp="1"/>
          </p:cNvSpPr>
          <p:nvPr>
            <p:ph type="title"/>
          </p:nvPr>
        </p:nvSpPr>
        <p:spPr>
          <a:xfrm>
            <a:off x="972080" y="685800"/>
            <a:ext cx="5260680" cy="1752599"/>
          </a:xfrm>
        </p:spPr>
        <p:txBody>
          <a:bodyPr>
            <a:normAutofit/>
          </a:bodyPr>
          <a:lstStyle/>
          <a:p>
            <a:pPr algn="l"/>
            <a:r>
              <a:rPr lang="en-US" dirty="0"/>
              <a:t>What is Agile?</a:t>
            </a:r>
            <a:endParaRPr lang="en-US"/>
          </a:p>
        </p:txBody>
      </p:sp>
      <p:sp>
        <p:nvSpPr>
          <p:cNvPr id="3" name="Content Placeholder 2">
            <a:extLst>
              <a:ext uri="{FF2B5EF4-FFF2-40B4-BE49-F238E27FC236}">
                <a16:creationId xmlns:a16="http://schemas.microsoft.com/office/drawing/2014/main" id="{9B21B885-2D33-E218-0AB7-2BBB9778F789}"/>
              </a:ext>
            </a:extLst>
          </p:cNvPr>
          <p:cNvSpPr>
            <a:spLocks noGrp="1"/>
          </p:cNvSpPr>
          <p:nvPr>
            <p:ph idx="1"/>
          </p:nvPr>
        </p:nvSpPr>
        <p:spPr>
          <a:xfrm>
            <a:off x="643468" y="2666999"/>
            <a:ext cx="5260680" cy="3124201"/>
          </a:xfrm>
        </p:spPr>
        <p:txBody>
          <a:bodyPr>
            <a:normAutofit/>
          </a:bodyPr>
          <a:lstStyle/>
          <a:p>
            <a:pPr marL="0" marR="0" lvl="0" indent="0">
              <a:lnSpc>
                <a:spcPct val="90000"/>
              </a:lnSpc>
              <a:spcBef>
                <a:spcPts val="0"/>
              </a:spcBef>
              <a:spcAft>
                <a:spcPts val="0"/>
              </a:spcAft>
              <a:buSzPts val="1000"/>
              <a:buNone/>
              <a:tabLst>
                <a:tab pos="457200" algn="l"/>
              </a:tabLst>
            </a:pPr>
            <a:r>
              <a:rPr lang="en-US" sz="1100" kern="100">
                <a:effectLst/>
                <a:ea typeface="Aptos" panose="020B0004020202020204" pitchFamily="34" charset="0"/>
                <a:cs typeface="Times New Roman" panose="02020603050405020304" pitchFamily="18" charset="0"/>
              </a:rPr>
              <a:t>Agile is an iterative and incremental methodology for software development that prioritizes customer collaboration, flexibility, and fast delivery. Scrum is one of the most popular Agile frameworks that organizes work into sprints with regular feedback loops to improve productivity.</a:t>
            </a:r>
          </a:p>
          <a:p>
            <a:pPr marL="0" marR="0" lvl="0" indent="0">
              <a:lnSpc>
                <a:spcPct val="90000"/>
              </a:lnSpc>
              <a:spcBef>
                <a:spcPts val="0"/>
              </a:spcBef>
              <a:spcAft>
                <a:spcPts val="0"/>
              </a:spcAft>
              <a:buSzPts val="1000"/>
              <a:buNone/>
              <a:tabLst>
                <a:tab pos="457200" algn="l"/>
              </a:tabLst>
            </a:pPr>
            <a:endParaRPr lang="en-US" sz="1100" kern="100">
              <a:effectLst/>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r>
              <a:rPr lang="en-US" sz="1100" b="1" kern="100">
                <a:effectLst/>
                <a:ea typeface="Aptos" panose="020B0004020202020204" pitchFamily="34" charset="0"/>
                <a:cs typeface="Times New Roman" panose="02020603050405020304" pitchFamily="18" charset="0"/>
              </a:rPr>
              <a:t>Key Feats</a:t>
            </a:r>
            <a:endParaRPr lang="en-US" sz="1100" kern="100">
              <a:effectLst/>
              <a:ea typeface="Aptos" panose="020B0004020202020204" pitchFamily="34" charset="0"/>
              <a:cs typeface="Times New Roman" panose="02020603050405020304" pitchFamily="18" charset="0"/>
            </a:endParaRP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100" b="1" kern="100">
                <a:effectLst/>
                <a:ea typeface="Aptos" panose="020B0004020202020204" pitchFamily="34" charset="0"/>
                <a:cs typeface="Times New Roman" panose="02020603050405020304" pitchFamily="18" charset="0"/>
              </a:rPr>
              <a:t>Iterative Process</a:t>
            </a:r>
            <a:r>
              <a:rPr lang="en-US" sz="1100" kern="100">
                <a:effectLst/>
                <a:ea typeface="Aptos" panose="020B0004020202020204" pitchFamily="34" charset="0"/>
                <a:cs typeface="Times New Roman" panose="02020603050405020304" pitchFamily="18" charset="0"/>
              </a:rPr>
              <a:t>: Work is done in small portions called "sprints" that last from 1-4 weeks.</a:t>
            </a: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100" b="1" kern="100">
                <a:effectLst/>
                <a:ea typeface="Aptos" panose="020B0004020202020204" pitchFamily="34" charset="0"/>
                <a:cs typeface="Times New Roman" panose="02020603050405020304" pitchFamily="18" charset="0"/>
              </a:rPr>
              <a:t>Collaboration</a:t>
            </a:r>
            <a:r>
              <a:rPr lang="en-US" sz="1100" kern="100">
                <a:effectLst/>
                <a:ea typeface="Aptos" panose="020B0004020202020204" pitchFamily="34" charset="0"/>
                <a:cs typeface="Times New Roman" panose="02020603050405020304" pitchFamily="18" charset="0"/>
              </a:rPr>
              <a:t>: Emphasizes team collaboration and meetings like Daily Standups, Sprint Reviews, and Retrospectives.</a:t>
            </a: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100" b="1" kern="100">
                <a:effectLst/>
                <a:ea typeface="Aptos" panose="020B0004020202020204" pitchFamily="34" charset="0"/>
                <a:cs typeface="Times New Roman" panose="02020603050405020304" pitchFamily="18" charset="0"/>
              </a:rPr>
              <a:t>Flexibility</a:t>
            </a:r>
            <a:r>
              <a:rPr lang="en-US" sz="1100" kern="100">
                <a:effectLst/>
                <a:ea typeface="Aptos" panose="020B0004020202020204" pitchFamily="34" charset="0"/>
                <a:cs typeface="Times New Roman" panose="02020603050405020304" pitchFamily="18" charset="0"/>
              </a:rPr>
              <a:t>: Adjusts based on feedback and changing requirements, very adaptable in dynamic environments.</a:t>
            </a:r>
          </a:p>
          <a:p>
            <a:pPr marL="0" marR="0" indent="0">
              <a:lnSpc>
                <a:spcPct val="90000"/>
              </a:lnSpc>
              <a:spcBef>
                <a:spcPts val="0"/>
              </a:spcBef>
              <a:spcAft>
                <a:spcPts val="0"/>
              </a:spcAft>
              <a:buNone/>
            </a:pPr>
            <a:endParaRPr lang="en-US" sz="1100" kern="10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100" kern="100">
              <a:effectLst/>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100" kern="100">
              <a:effectLst/>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r>
              <a:rPr lang="en-US" sz="1100" kern="100">
                <a:effectLst/>
                <a:ea typeface="Aptos" panose="020B0004020202020204" pitchFamily="34" charset="0"/>
                <a:cs typeface="Times New Roman" panose="02020603050405020304" pitchFamily="18" charset="0"/>
              </a:rPr>
              <a:t>Source: </a:t>
            </a:r>
            <a:r>
              <a:rPr lang="en-US" sz="1100" i="1" kern="100">
                <a:effectLst/>
                <a:ea typeface="Aptos" panose="020B0004020202020204" pitchFamily="34" charset="0"/>
                <a:cs typeface="Times New Roman" panose="02020603050405020304" pitchFamily="18" charset="0"/>
              </a:rPr>
              <a:t>Schwaber, K., &amp; Beedle, M. (2002). Agile Software Development with Scrum.</a:t>
            </a:r>
            <a:r>
              <a:rPr lang="en-US" sz="1100" kern="100">
                <a:effectLst/>
                <a:ea typeface="Aptos" panose="020B0004020202020204" pitchFamily="34" charset="0"/>
                <a:cs typeface="Times New Roman" panose="02020603050405020304" pitchFamily="18" charset="0"/>
              </a:rPr>
              <a:t> Prentice Hall.</a:t>
            </a:r>
          </a:p>
          <a:p>
            <a:pPr>
              <a:lnSpc>
                <a:spcPct val="90000"/>
              </a:lnSpc>
            </a:pPr>
            <a:endParaRPr lang="en-US" sz="1100"/>
          </a:p>
        </p:txBody>
      </p:sp>
    </p:spTree>
    <p:extLst>
      <p:ext uri="{BB962C8B-B14F-4D97-AF65-F5344CB8AC3E}">
        <p14:creationId xmlns:p14="http://schemas.microsoft.com/office/powerpoint/2010/main" val="38068641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9B12-4D9E-EB68-6A5E-02A20D0E71B1}"/>
              </a:ext>
            </a:extLst>
          </p:cNvPr>
          <p:cNvSpPr>
            <a:spLocks noGrp="1"/>
          </p:cNvSpPr>
          <p:nvPr>
            <p:ph type="title"/>
          </p:nvPr>
        </p:nvSpPr>
        <p:spPr>
          <a:xfrm>
            <a:off x="1760706" y="685800"/>
            <a:ext cx="9742318" cy="1752599"/>
          </a:xfrm>
        </p:spPr>
        <p:txBody>
          <a:bodyPr>
            <a:normAutofit/>
          </a:bodyPr>
          <a:lstStyle/>
          <a:p>
            <a:r>
              <a:rPr lang="en-US"/>
              <a:t>Roles &amp; Responsibilities</a:t>
            </a:r>
            <a:endParaRPr lang="en-US" dirty="0"/>
          </a:p>
        </p:txBody>
      </p:sp>
      <p:graphicFrame>
        <p:nvGraphicFramePr>
          <p:cNvPr id="5" name="Content Placeholder 2">
            <a:extLst>
              <a:ext uri="{FF2B5EF4-FFF2-40B4-BE49-F238E27FC236}">
                <a16:creationId xmlns:a16="http://schemas.microsoft.com/office/drawing/2014/main" id="{AC2497A8-5D3B-4F6E-3631-F9A46F36E3E9}"/>
              </a:ext>
            </a:extLst>
          </p:cNvPr>
          <p:cNvGraphicFramePr>
            <a:graphicFrameLocks noGrp="1"/>
          </p:cNvGraphicFramePr>
          <p:nvPr>
            <p:ph idx="1"/>
            <p:extLst>
              <p:ext uri="{D42A27DB-BD31-4B8C-83A1-F6EECF244321}">
                <p14:modId xmlns:p14="http://schemas.microsoft.com/office/powerpoint/2010/main" val="2557935141"/>
              </p:ext>
            </p:extLst>
          </p:nvPr>
        </p:nvGraphicFramePr>
        <p:xfrm>
          <a:off x="1760705" y="2694562"/>
          <a:ext cx="9742319" cy="309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10450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632B84F-4374-87F9-0995-7C563D01ECB9}"/>
              </a:ext>
            </a:extLst>
          </p:cNvPr>
          <p:cNvSpPr>
            <a:spLocks noGrp="1"/>
          </p:cNvSpPr>
          <p:nvPr>
            <p:ph type="title"/>
          </p:nvPr>
        </p:nvSpPr>
        <p:spPr>
          <a:xfrm>
            <a:off x="535021" y="685800"/>
            <a:ext cx="2639962" cy="5105400"/>
          </a:xfrm>
        </p:spPr>
        <p:txBody>
          <a:bodyPr>
            <a:normAutofit/>
          </a:bodyPr>
          <a:lstStyle/>
          <a:p>
            <a:r>
              <a:rPr lang="en-US" sz="3400" dirty="0">
                <a:solidFill>
                  <a:srgbClr val="FFFFFF"/>
                </a:solidFill>
              </a:rPr>
              <a:t>Agile Phases</a:t>
            </a:r>
            <a:br>
              <a:rPr lang="en-US" sz="3400" dirty="0">
                <a:solidFill>
                  <a:srgbClr val="FFFFFF"/>
                </a:solidFill>
              </a:rPr>
            </a:br>
            <a:r>
              <a:rPr lang="en-US" sz="3400" dirty="0">
                <a:solidFill>
                  <a:srgbClr val="FFFFFF"/>
                </a:solidFill>
              </a:rPr>
              <a:t>SDLC </a:t>
            </a:r>
            <a:br>
              <a:rPr lang="en-US" sz="3400" dirty="0">
                <a:solidFill>
                  <a:srgbClr val="FFFFFF"/>
                </a:solidFill>
              </a:rPr>
            </a:br>
            <a:r>
              <a:rPr lang="en-US" sz="1800" dirty="0">
                <a:solidFill>
                  <a:srgbClr val="FFFFFF"/>
                </a:solidFill>
              </a:rPr>
              <a:t>(Software Development Lifecycle)</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47371E8E-1F45-0538-1019-A66D7B3A0ED2}"/>
              </a:ext>
            </a:extLst>
          </p:cNvPr>
          <p:cNvGraphicFramePr>
            <a:graphicFrameLocks noGrp="1"/>
          </p:cNvGraphicFramePr>
          <p:nvPr>
            <p:ph idx="1"/>
            <p:extLst>
              <p:ext uri="{D42A27DB-BD31-4B8C-83A1-F6EECF244321}">
                <p14:modId xmlns:p14="http://schemas.microsoft.com/office/powerpoint/2010/main" val="2442709645"/>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27942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A56B05ED-46E9-EC91-30D1-D3DAF6BA7955}"/>
              </a:ext>
            </a:extLst>
          </p:cNvPr>
          <p:cNvPicPr>
            <a:picLocks noChangeAspect="1"/>
          </p:cNvPicPr>
          <p:nvPr/>
        </p:nvPicPr>
        <p:blipFill>
          <a:blip r:embed="rId3"/>
          <a:srcRect l="8930" r="39493" b="-1"/>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11" name="Group 10">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2"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3"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4"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5"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6"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7"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6B3EB954-6D48-2C71-90B9-875380F52A66}"/>
              </a:ext>
            </a:extLst>
          </p:cNvPr>
          <p:cNvSpPr>
            <a:spLocks noGrp="1"/>
          </p:cNvSpPr>
          <p:nvPr>
            <p:ph type="title"/>
          </p:nvPr>
        </p:nvSpPr>
        <p:spPr>
          <a:xfrm>
            <a:off x="972080" y="685800"/>
            <a:ext cx="5260680" cy="1752599"/>
          </a:xfrm>
        </p:spPr>
        <p:txBody>
          <a:bodyPr>
            <a:normAutofit/>
          </a:bodyPr>
          <a:lstStyle/>
          <a:p>
            <a:pPr algn="l"/>
            <a:r>
              <a:rPr lang="en-US" dirty="0"/>
              <a:t>What’s the Waterfall Method?</a:t>
            </a:r>
            <a:endParaRPr lang="en-US"/>
          </a:p>
        </p:txBody>
      </p:sp>
      <p:sp>
        <p:nvSpPr>
          <p:cNvPr id="3" name="Content Placeholder 2">
            <a:extLst>
              <a:ext uri="{FF2B5EF4-FFF2-40B4-BE49-F238E27FC236}">
                <a16:creationId xmlns:a16="http://schemas.microsoft.com/office/drawing/2014/main" id="{65C8330B-1061-6181-E38D-7AA530BB23D3}"/>
              </a:ext>
            </a:extLst>
          </p:cNvPr>
          <p:cNvSpPr>
            <a:spLocks noGrp="1"/>
          </p:cNvSpPr>
          <p:nvPr>
            <p:ph idx="1"/>
          </p:nvPr>
        </p:nvSpPr>
        <p:spPr>
          <a:xfrm>
            <a:off x="643468" y="2666999"/>
            <a:ext cx="5260680" cy="3124201"/>
          </a:xfrm>
        </p:spPr>
        <p:txBody>
          <a:bodyPr>
            <a:normAutofit/>
          </a:bodyPr>
          <a:lstStyle/>
          <a:p>
            <a:pPr marL="0" marR="0" lvl="0" indent="0">
              <a:lnSpc>
                <a:spcPct val="90000"/>
              </a:lnSpc>
              <a:spcBef>
                <a:spcPts val="0"/>
              </a:spcBef>
              <a:spcAft>
                <a:spcPts val="0"/>
              </a:spcAft>
              <a:buSzPts val="1000"/>
              <a:buNone/>
              <a:tabLst>
                <a:tab pos="457200" algn="l"/>
              </a:tabLst>
            </a:pPr>
            <a:r>
              <a:rPr lang="en-US" sz="1400" kern="100">
                <a:effectLst/>
                <a:ea typeface="Aptos" panose="020B0004020202020204" pitchFamily="34" charset="0"/>
                <a:cs typeface="Times New Roman" panose="02020603050405020304" pitchFamily="18" charset="0"/>
              </a:rPr>
              <a:t>A sequential, non-iterative process in which each phase must be completed before the next begins.</a:t>
            </a: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a:effectLst/>
                <a:ea typeface="Aptos" panose="020B0004020202020204" pitchFamily="34" charset="0"/>
                <a:cs typeface="Times New Roman" panose="02020603050405020304" pitchFamily="18" charset="0"/>
              </a:rPr>
              <a:t>Process Flow</a:t>
            </a:r>
            <a:r>
              <a:rPr lang="en-US" sz="1400" kern="100">
                <a:effectLst/>
                <a:ea typeface="Aptos" panose="020B0004020202020204" pitchFamily="34" charset="0"/>
                <a:cs typeface="Times New Roman" panose="02020603050405020304" pitchFamily="18" charset="0"/>
              </a:rPr>
              <a:t>: Requirements gathering → Design → Development → Testing → Deployment → Maintenance.</a:t>
            </a: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a:effectLst/>
                <a:ea typeface="Aptos" panose="020B0004020202020204" pitchFamily="34" charset="0"/>
                <a:cs typeface="Times New Roman" panose="02020603050405020304" pitchFamily="18" charset="0"/>
              </a:rPr>
              <a:t>Key Traits</a:t>
            </a:r>
            <a:r>
              <a:rPr lang="en-US" sz="1400" kern="100">
                <a:effectLst/>
                <a:ea typeface="Aptos" panose="020B0004020202020204" pitchFamily="34" charset="0"/>
                <a:cs typeface="Times New Roman" panose="02020603050405020304" pitchFamily="18" charset="0"/>
              </a:rPr>
              <a:t>: Predictable timeline, detailed documentation, rigid scope.</a:t>
            </a:r>
          </a:p>
          <a:p>
            <a:pPr marL="800100" lvl="1"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dirty="0">
                <a:effectLst/>
                <a:ea typeface="Aptos" panose="020B0004020202020204" pitchFamily="34" charset="0"/>
                <a:cs typeface="Times New Roman" panose="02020603050405020304" pitchFamily="18" charset="0"/>
              </a:rPr>
              <a:t>Ex: </a:t>
            </a:r>
            <a:r>
              <a:rPr lang="en-US" sz="1400" kern="100" dirty="0">
                <a:effectLst/>
                <a:ea typeface="Aptos" panose="020B0004020202020204" pitchFamily="34" charset="0"/>
                <a:cs typeface="Times New Roman" panose="02020603050405020304" pitchFamily="18" charset="0"/>
              </a:rPr>
              <a:t>Very little ability to change and adapt in Waterfall depending on phase. In Agile, issues can be identified and resolved continuously throughout the sprint.</a:t>
            </a:r>
            <a:endParaRPr lang="en-US" sz="1400" kern="100">
              <a:effectLst/>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a:effectLst/>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r>
              <a:rPr lang="en-US" sz="1400" kern="100">
                <a:effectLst/>
                <a:ea typeface="Aptos" panose="020B0004020202020204" pitchFamily="34" charset="0"/>
                <a:cs typeface="Times New Roman" panose="02020603050405020304" pitchFamily="18" charset="0"/>
              </a:rPr>
              <a:t>Source: </a:t>
            </a:r>
            <a:r>
              <a:rPr lang="en-US" sz="1400" i="1" kern="100">
                <a:effectLst/>
                <a:ea typeface="Aptos" panose="020B0004020202020204" pitchFamily="34" charset="0"/>
                <a:cs typeface="Times New Roman" panose="02020603050405020304" pitchFamily="18" charset="0"/>
              </a:rPr>
              <a:t>Boehm, B. W. (1988). A Spiral Model of Software Development and Enhancement.</a:t>
            </a:r>
            <a:r>
              <a:rPr lang="en-US" sz="1400" kern="100">
                <a:effectLst/>
                <a:ea typeface="Aptos" panose="020B0004020202020204" pitchFamily="34" charset="0"/>
                <a:cs typeface="Times New Roman" panose="02020603050405020304" pitchFamily="18" charset="0"/>
              </a:rPr>
              <a:t> ACM SIGSOFT Software Engineering Notes.</a:t>
            </a:r>
          </a:p>
          <a:p>
            <a:pPr>
              <a:lnSpc>
                <a:spcPct val="90000"/>
              </a:lnSpc>
            </a:pPr>
            <a:endParaRPr lang="en-US" sz="1400"/>
          </a:p>
        </p:txBody>
      </p:sp>
    </p:spTree>
    <p:extLst>
      <p:ext uri="{BB962C8B-B14F-4D97-AF65-F5344CB8AC3E}">
        <p14:creationId xmlns:p14="http://schemas.microsoft.com/office/powerpoint/2010/main" val="22264339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57E35-5D73-6A77-3270-69D11063936A}"/>
              </a:ext>
            </a:extLst>
          </p:cNvPr>
          <p:cNvSpPr>
            <a:spLocks noGrp="1"/>
          </p:cNvSpPr>
          <p:nvPr>
            <p:ph type="title"/>
          </p:nvPr>
        </p:nvSpPr>
        <p:spPr>
          <a:xfrm>
            <a:off x="1484311" y="685800"/>
            <a:ext cx="10018713" cy="1185333"/>
          </a:xfrm>
        </p:spPr>
        <p:txBody>
          <a:bodyPr>
            <a:normAutofit/>
          </a:bodyPr>
          <a:lstStyle/>
          <a:p>
            <a:pPr>
              <a:lnSpc>
                <a:spcPct val="90000"/>
              </a:lnSpc>
            </a:pPr>
            <a:r>
              <a:rPr lang="en-US" sz="3700"/>
              <a:t>Agile or Waterfall?</a:t>
            </a:r>
            <a:br>
              <a:rPr lang="en-US" sz="3700"/>
            </a:br>
            <a:r>
              <a:rPr lang="en-US" sz="3700">
                <a:latin typeface="+mn-lt"/>
              </a:rPr>
              <a:t>How to choose?</a:t>
            </a:r>
          </a:p>
        </p:txBody>
      </p:sp>
      <p:sp>
        <p:nvSpPr>
          <p:cNvPr id="12" name="Content Placeholder 2">
            <a:extLst>
              <a:ext uri="{FF2B5EF4-FFF2-40B4-BE49-F238E27FC236}">
                <a16:creationId xmlns:a16="http://schemas.microsoft.com/office/drawing/2014/main" id="{ED024B2F-7019-8819-DADC-748B1D62EDA3}"/>
              </a:ext>
            </a:extLst>
          </p:cNvPr>
          <p:cNvSpPr>
            <a:spLocks noGrp="1"/>
          </p:cNvSpPr>
          <p:nvPr>
            <p:ph idx="1"/>
          </p:nvPr>
        </p:nvSpPr>
        <p:spPr>
          <a:xfrm>
            <a:off x="1588036" y="1291551"/>
            <a:ext cx="7197871" cy="5566449"/>
          </a:xfrm>
        </p:spPr>
        <p:txBody>
          <a:bodyPr>
            <a:normAutofit/>
          </a:bodyPr>
          <a:lstStyle/>
          <a:p>
            <a:pPr marL="0" marR="0" indent="0">
              <a:lnSpc>
                <a:spcPct val="90000"/>
              </a:lnSpc>
              <a:spcBef>
                <a:spcPts val="0"/>
              </a:spcBef>
              <a:spcAft>
                <a:spcPts val="0"/>
              </a:spcAft>
              <a:buNone/>
            </a:pPr>
            <a:endParaRPr lang="en-US" sz="1000" kern="100" dirty="0">
              <a:effectLst/>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dirty="0">
              <a:ea typeface="Aptos" panose="020B0004020202020204" pitchFamily="34" charset="0"/>
              <a:cs typeface="Times New Roman" panose="02020603050405020304" pitchFamily="18" charset="0"/>
            </a:endParaRP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dirty="0">
                <a:effectLst/>
                <a:ea typeface="Aptos" panose="020B0004020202020204" pitchFamily="34" charset="0"/>
                <a:cs typeface="Times New Roman" panose="02020603050405020304" pitchFamily="18" charset="0"/>
              </a:rPr>
              <a:t>Nature of the Project</a:t>
            </a:r>
            <a:r>
              <a:rPr lang="en-US" sz="1400" kern="100" dirty="0">
                <a:effectLst/>
                <a:ea typeface="Aptos" panose="020B0004020202020204" pitchFamily="34" charset="0"/>
                <a:cs typeface="Times New Roman" panose="02020603050405020304" pitchFamily="18" charset="0"/>
              </a:rPr>
              <a:t>:</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r>
              <a:rPr lang="en-US" sz="1400" b="1" kern="100" dirty="0">
                <a:effectLst/>
                <a:ea typeface="Aptos" panose="020B0004020202020204" pitchFamily="34" charset="0"/>
                <a:cs typeface="Times New Roman" panose="02020603050405020304" pitchFamily="18" charset="0"/>
              </a:rPr>
              <a:t>Agile</a:t>
            </a:r>
            <a:r>
              <a:rPr lang="en-US" sz="1400" kern="100" dirty="0">
                <a:effectLst/>
                <a:ea typeface="Aptos" panose="020B0004020202020204" pitchFamily="34" charset="0"/>
                <a:cs typeface="Times New Roman" panose="02020603050405020304" pitchFamily="18" charset="0"/>
              </a:rPr>
              <a:t>: Best for projects that are expected to evolve, where requirements are likely to change, or when customer feedback is crucial.</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r>
              <a:rPr lang="en-US" sz="1400" b="1" kern="100" dirty="0">
                <a:effectLst/>
                <a:ea typeface="Aptos" panose="020B0004020202020204" pitchFamily="34" charset="0"/>
                <a:cs typeface="Times New Roman" panose="02020603050405020304" pitchFamily="18" charset="0"/>
              </a:rPr>
              <a:t>Waterfall</a:t>
            </a:r>
            <a:r>
              <a:rPr lang="en-US" sz="1400" kern="100" dirty="0">
                <a:effectLst/>
                <a:ea typeface="Aptos" panose="020B0004020202020204" pitchFamily="34" charset="0"/>
                <a:cs typeface="Times New Roman" panose="02020603050405020304" pitchFamily="18" charset="0"/>
              </a:rPr>
              <a:t>: Works well for projects with fixed, well-defined requirements and predictable timelines (e.g., regulatory compliance software).</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endParaRPr lang="en-US" sz="1400" kern="100" dirty="0">
              <a:effectLst/>
              <a:ea typeface="Aptos" panose="020B0004020202020204" pitchFamily="34" charset="0"/>
              <a:cs typeface="Times New Roman" panose="02020603050405020304" pitchFamily="18" charset="0"/>
            </a:endParaRP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dirty="0">
                <a:effectLst/>
                <a:ea typeface="Aptos" panose="020B0004020202020204" pitchFamily="34" charset="0"/>
                <a:cs typeface="Times New Roman" panose="02020603050405020304" pitchFamily="18" charset="0"/>
              </a:rPr>
              <a:t>Team Dynamics</a:t>
            </a:r>
            <a:r>
              <a:rPr lang="en-US" sz="1400" kern="100" dirty="0">
                <a:effectLst/>
                <a:ea typeface="Aptos" panose="020B0004020202020204" pitchFamily="34" charset="0"/>
                <a:cs typeface="Times New Roman" panose="02020603050405020304" pitchFamily="18" charset="0"/>
              </a:rPr>
              <a:t>:</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r>
              <a:rPr lang="en-US" sz="1400" b="1" kern="100" dirty="0">
                <a:effectLst/>
                <a:ea typeface="Aptos" panose="020B0004020202020204" pitchFamily="34" charset="0"/>
                <a:cs typeface="Times New Roman" panose="02020603050405020304" pitchFamily="18" charset="0"/>
              </a:rPr>
              <a:t>Agile</a:t>
            </a:r>
            <a:r>
              <a:rPr lang="en-US" sz="1400" kern="100" dirty="0">
                <a:effectLst/>
                <a:ea typeface="Aptos" panose="020B0004020202020204" pitchFamily="34" charset="0"/>
                <a:cs typeface="Times New Roman" panose="02020603050405020304" pitchFamily="18" charset="0"/>
              </a:rPr>
              <a:t>: Better suited for cross-functional teams that can work collaboratively.</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r>
              <a:rPr lang="en-US" sz="1400" b="1" kern="100" dirty="0">
                <a:effectLst/>
                <a:ea typeface="Aptos" panose="020B0004020202020204" pitchFamily="34" charset="0"/>
                <a:cs typeface="Times New Roman" panose="02020603050405020304" pitchFamily="18" charset="0"/>
              </a:rPr>
              <a:t>Waterfall</a:t>
            </a:r>
            <a:r>
              <a:rPr lang="en-US" sz="1400" kern="100" dirty="0">
                <a:effectLst/>
                <a:ea typeface="Aptos" panose="020B0004020202020204" pitchFamily="34" charset="0"/>
                <a:cs typeface="Times New Roman" panose="02020603050405020304" pitchFamily="18" charset="0"/>
              </a:rPr>
              <a:t>: Suited for more traditional, siloed teams.</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endParaRPr lang="en-US" sz="1400" kern="100" dirty="0">
              <a:effectLst/>
              <a:ea typeface="Aptos" panose="020B0004020202020204" pitchFamily="34" charset="0"/>
              <a:cs typeface="Times New Roman" panose="02020603050405020304" pitchFamily="18" charset="0"/>
            </a:endParaRP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dirty="0">
                <a:effectLst/>
                <a:ea typeface="Aptos" panose="020B0004020202020204" pitchFamily="34" charset="0"/>
                <a:cs typeface="Times New Roman" panose="02020603050405020304" pitchFamily="18" charset="0"/>
              </a:rPr>
              <a:t>Risk and Uncertainty</a:t>
            </a:r>
            <a:r>
              <a:rPr lang="en-US" sz="1400" kern="100" dirty="0">
                <a:effectLst/>
                <a:ea typeface="Aptos" panose="020B0004020202020204" pitchFamily="34" charset="0"/>
                <a:cs typeface="Times New Roman" panose="02020603050405020304" pitchFamily="18" charset="0"/>
              </a:rPr>
              <a:t>:</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r>
              <a:rPr lang="en-US" sz="1400" b="1" kern="100" dirty="0">
                <a:effectLst/>
                <a:ea typeface="Aptos" panose="020B0004020202020204" pitchFamily="34" charset="0"/>
                <a:cs typeface="Times New Roman" panose="02020603050405020304" pitchFamily="18" charset="0"/>
              </a:rPr>
              <a:t>Agile</a:t>
            </a:r>
            <a:r>
              <a:rPr lang="en-US" sz="1400" kern="100" dirty="0">
                <a:effectLst/>
                <a:ea typeface="Aptos" panose="020B0004020202020204" pitchFamily="34" charset="0"/>
                <a:cs typeface="Times New Roman" panose="02020603050405020304" pitchFamily="18" charset="0"/>
              </a:rPr>
              <a:t>: Less risky, as iterations allow early issue detection.</a:t>
            </a:r>
          </a:p>
          <a:p>
            <a:pPr marL="742950" marR="0" lvl="1" indent="-285750">
              <a:lnSpc>
                <a:spcPct val="90000"/>
              </a:lnSpc>
              <a:spcBef>
                <a:spcPts val="0"/>
              </a:spcBef>
              <a:spcAft>
                <a:spcPts val="0"/>
              </a:spcAft>
              <a:buSzPts val="1000"/>
              <a:buFont typeface="Courier New" panose="02070309020205020404" pitchFamily="49" charset="0"/>
              <a:buChar char="o"/>
              <a:tabLst>
                <a:tab pos="914400" algn="l"/>
              </a:tabLst>
            </a:pPr>
            <a:r>
              <a:rPr lang="en-US" sz="1400" b="1" kern="100" dirty="0">
                <a:effectLst/>
                <a:ea typeface="Aptos" panose="020B0004020202020204" pitchFamily="34" charset="0"/>
                <a:cs typeface="Times New Roman" panose="02020603050405020304" pitchFamily="18" charset="0"/>
              </a:rPr>
              <a:t>Waterfall</a:t>
            </a:r>
            <a:r>
              <a:rPr lang="en-US" sz="1400" kern="100" dirty="0">
                <a:effectLst/>
                <a:ea typeface="Aptos" panose="020B0004020202020204" pitchFamily="34" charset="0"/>
                <a:cs typeface="Times New Roman" panose="02020603050405020304" pitchFamily="18" charset="0"/>
              </a:rPr>
              <a:t>: Higher risk if something goes wrong late in the process, as changes are difficult to implement after the design phase.</a:t>
            </a:r>
            <a:endParaRPr lang="en-US" sz="1400" kern="100" dirty="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dirty="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dirty="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dirty="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dirty="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endParaRPr lang="en-US" sz="1400" kern="100" dirty="0">
              <a:ea typeface="Aptos" panose="020B0004020202020204" pitchFamily="34" charset="0"/>
              <a:cs typeface="Times New Roman" panose="02020603050405020304" pitchFamily="18" charset="0"/>
            </a:endParaRPr>
          </a:p>
          <a:p>
            <a:pPr marL="0" marR="0" indent="0">
              <a:lnSpc>
                <a:spcPct val="90000"/>
              </a:lnSpc>
              <a:spcBef>
                <a:spcPts val="0"/>
              </a:spcBef>
              <a:spcAft>
                <a:spcPts val="0"/>
              </a:spcAft>
              <a:buNone/>
            </a:pPr>
            <a:r>
              <a:rPr lang="en-US" sz="1400" kern="100" dirty="0">
                <a:effectLst/>
                <a:ea typeface="Aptos" panose="020B0004020202020204" pitchFamily="34" charset="0"/>
                <a:cs typeface="Times New Roman" panose="02020603050405020304" pitchFamily="18" charset="0"/>
              </a:rPr>
              <a:t>Source: </a:t>
            </a:r>
            <a:r>
              <a:rPr lang="en-US" sz="1400" i="1" kern="100" dirty="0">
                <a:effectLst/>
                <a:ea typeface="Aptos" panose="020B0004020202020204" pitchFamily="34" charset="0"/>
                <a:cs typeface="Times New Roman" panose="02020603050405020304" pitchFamily="18" charset="0"/>
              </a:rPr>
              <a:t>Highsmith, J. (2002). Agile Software Development Ecosystems.</a:t>
            </a:r>
            <a:r>
              <a:rPr lang="en-US" sz="1400" kern="100" dirty="0">
                <a:effectLst/>
                <a:ea typeface="Aptos" panose="020B0004020202020204" pitchFamily="34" charset="0"/>
                <a:cs typeface="Times New Roman" panose="02020603050405020304" pitchFamily="18" charset="0"/>
              </a:rPr>
              <a:t> Addison-Wesley.</a:t>
            </a:r>
          </a:p>
          <a:p>
            <a:pPr>
              <a:lnSpc>
                <a:spcPct val="90000"/>
              </a:lnSpc>
            </a:pPr>
            <a:endParaRPr lang="en-US" sz="1000" dirty="0"/>
          </a:p>
        </p:txBody>
      </p:sp>
      <p:pic>
        <p:nvPicPr>
          <p:cNvPr id="7" name="Graphic 6" descr="Laptop Secure">
            <a:extLst>
              <a:ext uri="{FF2B5EF4-FFF2-40B4-BE49-F238E27FC236}">
                <a16:creationId xmlns:a16="http://schemas.microsoft.com/office/drawing/2014/main" id="{DC275D62-71F4-B1E7-E064-3DFB9A5416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85907" y="2535331"/>
            <a:ext cx="2717116" cy="271711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41409423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2"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6"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7"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31141051-A386-CB23-9E3A-43102C5D54EC}"/>
              </a:ext>
            </a:extLst>
          </p:cNvPr>
          <p:cNvSpPr>
            <a:spLocks noGrp="1"/>
          </p:cNvSpPr>
          <p:nvPr>
            <p:ph type="title"/>
          </p:nvPr>
        </p:nvSpPr>
        <p:spPr>
          <a:xfrm>
            <a:off x="3962399" y="685800"/>
            <a:ext cx="7345891" cy="1413933"/>
          </a:xfrm>
        </p:spPr>
        <p:txBody>
          <a:bodyPr>
            <a:normAutofit/>
          </a:bodyPr>
          <a:lstStyle/>
          <a:p>
            <a:r>
              <a:rPr lang="en-US" dirty="0"/>
              <a:t>Conclusion</a:t>
            </a:r>
          </a:p>
        </p:txBody>
      </p:sp>
      <p:pic>
        <p:nvPicPr>
          <p:cNvPr id="5" name="Picture 4" descr="Cascade of waterfalls">
            <a:extLst>
              <a:ext uri="{FF2B5EF4-FFF2-40B4-BE49-F238E27FC236}">
                <a16:creationId xmlns:a16="http://schemas.microsoft.com/office/drawing/2014/main" id="{5A2EA114-97CF-5D8E-CC81-91D5FAAEB573}"/>
              </a:ext>
            </a:extLst>
          </p:cNvPr>
          <p:cNvPicPr>
            <a:picLocks noChangeAspect="1"/>
          </p:cNvPicPr>
          <p:nvPr/>
        </p:nvPicPr>
        <p:blipFill>
          <a:blip r:embed="rId3"/>
          <a:srcRect l="23188" r="43143" b="-1"/>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94E079BB-D5B1-B0EC-B39C-C2B52DF15B9C}"/>
              </a:ext>
            </a:extLst>
          </p:cNvPr>
          <p:cNvSpPr>
            <a:spLocks noGrp="1"/>
          </p:cNvSpPr>
          <p:nvPr>
            <p:ph idx="1"/>
          </p:nvPr>
        </p:nvSpPr>
        <p:spPr>
          <a:xfrm>
            <a:off x="3843867" y="2048933"/>
            <a:ext cx="7659156" cy="3742267"/>
          </a:xfrm>
        </p:spPr>
        <p:txBody>
          <a:bodyPr>
            <a:normAutofit/>
          </a:bodyPr>
          <a:lstStyle/>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dirty="0">
                <a:effectLst/>
                <a:ea typeface="Aptos" panose="020B0004020202020204" pitchFamily="34" charset="0"/>
                <a:cs typeface="Times New Roman" panose="02020603050405020304" pitchFamily="18" charset="0"/>
              </a:rPr>
              <a:t>Agile Approach</a:t>
            </a:r>
            <a:r>
              <a:rPr lang="en-US" sz="1400" kern="100" dirty="0">
                <a:effectLst/>
                <a:ea typeface="Aptos" panose="020B0004020202020204" pitchFamily="34" charset="0"/>
                <a:cs typeface="Times New Roman" panose="02020603050405020304" pitchFamily="18" charset="0"/>
              </a:rPr>
              <a:t>: Flexible, iterative, and customer-focused, Agile is ideal for fast-paced, dynamic environments.</a:t>
            </a: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endParaRPr lang="en-US" sz="1400" kern="100" dirty="0">
              <a:ea typeface="Aptos" panose="020B0004020202020204" pitchFamily="34" charset="0"/>
              <a:cs typeface="Times New Roman" panose="02020603050405020304" pitchFamily="18" charset="0"/>
            </a:endParaRPr>
          </a:p>
          <a:p>
            <a:pPr marL="0" marR="0" lvl="0" indent="0">
              <a:lnSpc>
                <a:spcPct val="90000"/>
              </a:lnSpc>
              <a:spcBef>
                <a:spcPts val="0"/>
              </a:spcBef>
              <a:spcAft>
                <a:spcPts val="0"/>
              </a:spcAft>
              <a:buSzPts val="1000"/>
              <a:buNone/>
              <a:tabLst>
                <a:tab pos="457200" algn="l"/>
              </a:tabLst>
            </a:pPr>
            <a:endParaRPr lang="en-US" sz="1400" kern="100" dirty="0">
              <a:effectLst/>
              <a:ea typeface="Aptos" panose="020B0004020202020204" pitchFamily="34" charset="0"/>
              <a:cs typeface="Times New Roman" panose="02020603050405020304" pitchFamily="18" charset="0"/>
            </a:endParaRP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r>
              <a:rPr lang="en-US" sz="1400" b="1" kern="100" dirty="0">
                <a:effectLst/>
                <a:ea typeface="Aptos" panose="020B0004020202020204" pitchFamily="34" charset="0"/>
                <a:cs typeface="Times New Roman" panose="02020603050405020304" pitchFamily="18" charset="0"/>
              </a:rPr>
              <a:t>Waterfall Approach</a:t>
            </a:r>
            <a:r>
              <a:rPr lang="en-US" sz="1400" kern="100" dirty="0">
                <a:effectLst/>
                <a:ea typeface="Aptos" panose="020B0004020202020204" pitchFamily="34" charset="0"/>
                <a:cs typeface="Times New Roman" panose="02020603050405020304" pitchFamily="18" charset="0"/>
              </a:rPr>
              <a:t>: Predictable and structured, Waterfall is better suited for projects with clear, unchanging requirements.</a:t>
            </a: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endParaRPr lang="en-US" sz="1400" kern="100" dirty="0">
              <a:effectLst/>
              <a:ea typeface="Aptos" panose="020B0004020202020204" pitchFamily="34" charset="0"/>
              <a:cs typeface="Times New Roman" panose="02020603050405020304" pitchFamily="18" charset="0"/>
            </a:endParaRPr>
          </a:p>
          <a:p>
            <a:pPr marL="342900" marR="0" lvl="0" indent="-342900">
              <a:lnSpc>
                <a:spcPct val="90000"/>
              </a:lnSpc>
              <a:spcBef>
                <a:spcPts val="0"/>
              </a:spcBef>
              <a:spcAft>
                <a:spcPts val="0"/>
              </a:spcAft>
              <a:buSzPts val="1000"/>
              <a:buFont typeface="Symbol" panose="05050102010706020507" pitchFamily="18" charset="2"/>
              <a:buChar char=""/>
              <a:tabLst>
                <a:tab pos="457200" algn="l"/>
              </a:tabLst>
            </a:pPr>
            <a:endParaRPr lang="en-US" sz="1400" kern="100" dirty="0">
              <a:ea typeface="Aptos" panose="020B0004020202020204" pitchFamily="34" charset="0"/>
              <a:cs typeface="Times New Roman" panose="02020603050405020304" pitchFamily="18" charset="0"/>
            </a:endParaRPr>
          </a:p>
          <a:p>
            <a:pPr marL="0" marR="0" lvl="0" indent="0">
              <a:lnSpc>
                <a:spcPct val="90000"/>
              </a:lnSpc>
              <a:spcBef>
                <a:spcPts val="0"/>
              </a:spcBef>
              <a:spcAft>
                <a:spcPts val="0"/>
              </a:spcAft>
              <a:buSzPts val="1000"/>
              <a:buNone/>
              <a:tabLst>
                <a:tab pos="457200" algn="l"/>
              </a:tabLst>
            </a:pPr>
            <a:endParaRPr lang="en-US" sz="1400" kern="100" dirty="0">
              <a:effectLst/>
              <a:ea typeface="Aptos" panose="020B0004020202020204" pitchFamily="34" charset="0"/>
              <a:cs typeface="Times New Roman" panose="02020603050405020304" pitchFamily="18" charset="0"/>
            </a:endParaRPr>
          </a:p>
          <a:p>
            <a:pPr marL="0" marR="0" lvl="0" indent="0">
              <a:lnSpc>
                <a:spcPct val="90000"/>
              </a:lnSpc>
              <a:spcBef>
                <a:spcPts val="0"/>
              </a:spcBef>
              <a:spcAft>
                <a:spcPts val="0"/>
              </a:spcAft>
              <a:buSzPts val="1000"/>
              <a:buNone/>
              <a:tabLst>
                <a:tab pos="457200" algn="l"/>
              </a:tabLst>
            </a:pPr>
            <a:r>
              <a:rPr lang="en-US" sz="1400" kern="100" dirty="0">
                <a:effectLst/>
                <a:ea typeface="Aptos" panose="020B0004020202020204" pitchFamily="34" charset="0"/>
                <a:cs typeface="Times New Roman" panose="02020603050405020304" pitchFamily="18" charset="0"/>
              </a:rPr>
              <a:t>The decision depends on your project needs, risk tolerance, and team capabilities.</a:t>
            </a:r>
          </a:p>
          <a:p>
            <a:pPr marL="0" indent="0">
              <a:lnSpc>
                <a:spcPct val="90000"/>
              </a:lnSpc>
              <a:buNone/>
            </a:pPr>
            <a:endParaRPr lang="en-US" sz="2000" dirty="0"/>
          </a:p>
        </p:txBody>
      </p:sp>
    </p:spTree>
    <p:extLst>
      <p:ext uri="{BB962C8B-B14F-4D97-AF65-F5344CB8AC3E}">
        <p14:creationId xmlns:p14="http://schemas.microsoft.com/office/powerpoint/2010/main" val="33876202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2"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6"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7"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D8E72A00-EBF3-A92C-300B-93971A9C7701}"/>
              </a:ext>
            </a:extLst>
          </p:cNvPr>
          <p:cNvSpPr>
            <a:spLocks noGrp="1"/>
          </p:cNvSpPr>
          <p:nvPr>
            <p:ph type="title"/>
          </p:nvPr>
        </p:nvSpPr>
        <p:spPr>
          <a:xfrm>
            <a:off x="3962399" y="685800"/>
            <a:ext cx="7345891" cy="1413933"/>
          </a:xfrm>
        </p:spPr>
        <p:txBody>
          <a:bodyPr>
            <a:normAutofit/>
          </a:bodyPr>
          <a:lstStyle/>
          <a:p>
            <a:r>
              <a:rPr lang="en-US" dirty="0"/>
              <a:t>Sources</a:t>
            </a:r>
          </a:p>
        </p:txBody>
      </p:sp>
      <p:pic>
        <p:nvPicPr>
          <p:cNvPr id="5" name="Picture 4" descr="Top view of cubes connected with black lines">
            <a:extLst>
              <a:ext uri="{FF2B5EF4-FFF2-40B4-BE49-F238E27FC236}">
                <a16:creationId xmlns:a16="http://schemas.microsoft.com/office/drawing/2014/main" id="{587EDAFA-5B2A-CBD8-B9DE-FAC45A5FCFCB}"/>
              </a:ext>
            </a:extLst>
          </p:cNvPr>
          <p:cNvPicPr>
            <a:picLocks noChangeAspect="1"/>
          </p:cNvPicPr>
          <p:nvPr/>
        </p:nvPicPr>
        <p:blipFill>
          <a:blip r:embed="rId3"/>
          <a:srcRect l="36046" r="26124"/>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90591751-5AE6-8A05-6D27-C7E0A589B9E9}"/>
              </a:ext>
            </a:extLst>
          </p:cNvPr>
          <p:cNvSpPr>
            <a:spLocks noGrp="1"/>
          </p:cNvSpPr>
          <p:nvPr>
            <p:ph idx="1"/>
          </p:nvPr>
        </p:nvSpPr>
        <p:spPr>
          <a:xfrm>
            <a:off x="3843867" y="2048933"/>
            <a:ext cx="7659156" cy="3742267"/>
          </a:xfrm>
        </p:spPr>
        <p:txBody>
          <a:bodyPr>
            <a:normAutofit/>
          </a:bodyPr>
          <a:lstStyle/>
          <a:p>
            <a:pPr marL="342900" marR="0" lvl="0" indent="-342900">
              <a:spcBef>
                <a:spcPts val="0"/>
              </a:spcBef>
              <a:spcAft>
                <a:spcPts val="0"/>
              </a:spcAft>
              <a:buSzPts val="1000"/>
              <a:buFont typeface="Symbol" panose="05050102010706020507" pitchFamily="18" charset="2"/>
              <a:buChar char=""/>
              <a:tabLst>
                <a:tab pos="457200" algn="l"/>
              </a:tabLst>
            </a:pPr>
            <a:r>
              <a:rPr lang="en-US" sz="1400" kern="100" dirty="0" err="1">
                <a:effectLst/>
                <a:ea typeface="Aptos" panose="020B0004020202020204" pitchFamily="34" charset="0"/>
                <a:cs typeface="Times New Roman" panose="02020603050405020304" pitchFamily="18" charset="0"/>
              </a:rPr>
              <a:t>Schwaber</a:t>
            </a:r>
            <a:r>
              <a:rPr lang="en-US" sz="1400" kern="100" dirty="0">
                <a:effectLst/>
                <a:ea typeface="Aptos" panose="020B0004020202020204" pitchFamily="34" charset="0"/>
                <a:cs typeface="Times New Roman" panose="02020603050405020304" pitchFamily="18" charset="0"/>
              </a:rPr>
              <a:t>, K. (2004). </a:t>
            </a:r>
            <a:r>
              <a:rPr lang="en-US" sz="1400" i="1" kern="100" dirty="0">
                <a:effectLst/>
                <a:ea typeface="Aptos" panose="020B0004020202020204" pitchFamily="34" charset="0"/>
                <a:cs typeface="Times New Roman" panose="02020603050405020304" pitchFamily="18" charset="0"/>
              </a:rPr>
              <a:t>Agile Project Management with Scrum</a:t>
            </a:r>
            <a:r>
              <a:rPr lang="en-US" sz="1400" kern="100" dirty="0">
                <a:effectLst/>
                <a:ea typeface="Aptos" panose="020B0004020202020204" pitchFamily="34" charset="0"/>
                <a:cs typeface="Times New Roman" panose="02020603050405020304" pitchFamily="18" charset="0"/>
              </a:rPr>
              <a:t>. Microsoft Press.</a:t>
            </a:r>
          </a:p>
          <a:p>
            <a:pPr marL="342900" marR="0" lvl="0" indent="-342900">
              <a:spcBef>
                <a:spcPts val="0"/>
              </a:spcBef>
              <a:spcAft>
                <a:spcPts val="0"/>
              </a:spcAft>
              <a:buSzPts val="1000"/>
              <a:buFont typeface="Symbol" panose="05050102010706020507" pitchFamily="18" charset="2"/>
              <a:buChar char=""/>
              <a:tabLst>
                <a:tab pos="457200" algn="l"/>
              </a:tabLst>
            </a:pPr>
            <a:r>
              <a:rPr lang="en-US" sz="1400" kern="100" dirty="0">
                <a:effectLst/>
                <a:ea typeface="Aptos" panose="020B0004020202020204" pitchFamily="34" charset="0"/>
                <a:cs typeface="Times New Roman" panose="02020603050405020304" pitchFamily="18" charset="0"/>
              </a:rPr>
              <a:t>Boehm, B. W. (1988). </a:t>
            </a:r>
            <a:r>
              <a:rPr lang="en-US" sz="1400" i="1" kern="100" dirty="0">
                <a:effectLst/>
                <a:ea typeface="Aptos" panose="020B0004020202020204" pitchFamily="34" charset="0"/>
                <a:cs typeface="Times New Roman" panose="02020603050405020304" pitchFamily="18" charset="0"/>
              </a:rPr>
              <a:t>A Spiral Model of Software Development and Enhancement</a:t>
            </a:r>
            <a:r>
              <a:rPr lang="en-US" sz="1400" kern="100" dirty="0">
                <a:effectLst/>
                <a:ea typeface="Aptos" panose="020B0004020202020204" pitchFamily="34" charset="0"/>
                <a:cs typeface="Times New Roman" panose="02020603050405020304" pitchFamily="18" charset="0"/>
              </a:rPr>
              <a:t>. ACM SIGSOFT Software Engineering Notes.</a:t>
            </a:r>
          </a:p>
          <a:p>
            <a:pPr marL="342900" marR="0" lvl="0" indent="-342900">
              <a:spcBef>
                <a:spcPts val="0"/>
              </a:spcBef>
              <a:spcAft>
                <a:spcPts val="0"/>
              </a:spcAft>
              <a:buSzPts val="1000"/>
              <a:buFont typeface="Symbol" panose="05050102010706020507" pitchFamily="18" charset="2"/>
              <a:buChar char=""/>
              <a:tabLst>
                <a:tab pos="457200" algn="l"/>
              </a:tabLst>
            </a:pPr>
            <a:r>
              <a:rPr lang="en-US" sz="1400" kern="100" dirty="0">
                <a:effectLst/>
                <a:ea typeface="Aptos" panose="020B0004020202020204" pitchFamily="34" charset="0"/>
                <a:cs typeface="Times New Roman" panose="02020603050405020304" pitchFamily="18" charset="0"/>
              </a:rPr>
              <a:t>Highsmith, J. (2002). </a:t>
            </a:r>
            <a:r>
              <a:rPr lang="en-US" sz="1400" i="1" kern="100" dirty="0">
                <a:effectLst/>
                <a:ea typeface="Aptos" panose="020B0004020202020204" pitchFamily="34" charset="0"/>
                <a:cs typeface="Times New Roman" panose="02020603050405020304" pitchFamily="18" charset="0"/>
              </a:rPr>
              <a:t>Agile Software Development Ecosystems</a:t>
            </a:r>
            <a:r>
              <a:rPr lang="en-US" sz="1400" kern="100" dirty="0">
                <a:effectLst/>
                <a:ea typeface="Aptos" panose="020B0004020202020204" pitchFamily="34" charset="0"/>
                <a:cs typeface="Times New Roman" panose="02020603050405020304" pitchFamily="18" charset="0"/>
              </a:rPr>
              <a:t>. Addison-Wesley.</a:t>
            </a:r>
          </a:p>
          <a:p>
            <a:endParaRPr lang="en-US" dirty="0"/>
          </a:p>
        </p:txBody>
      </p:sp>
    </p:spTree>
    <p:extLst>
      <p:ext uri="{BB962C8B-B14F-4D97-AF65-F5344CB8AC3E}">
        <p14:creationId xmlns:p14="http://schemas.microsoft.com/office/powerpoint/2010/main" val="31369857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advTm="2000">
        <p159:morph option="byObject"/>
      </p:transition>
    </mc:Choice>
    <mc:Fallback>
      <p:transition spd="slow" advClick="0" advTm="2000">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183</TotalTime>
  <Words>804</Words>
  <Application>Microsoft Office PowerPoint</Application>
  <PresentationFormat>Widescreen</PresentationFormat>
  <Paragraphs>90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Century Gothic</vt:lpstr>
      <vt:lpstr>Corbel</vt:lpstr>
      <vt:lpstr>Courier New</vt:lpstr>
      <vt:lpstr>Symbol</vt:lpstr>
      <vt:lpstr>Parallax</vt:lpstr>
      <vt:lpstr>Scrumming</vt:lpstr>
      <vt:lpstr>Introduction  Agile &amp; Waterfall</vt:lpstr>
      <vt:lpstr>What is Agile?</vt:lpstr>
      <vt:lpstr>Roles &amp; Responsibilities</vt:lpstr>
      <vt:lpstr>Agile Phases SDLC  (Software Development Lifecycle)</vt:lpstr>
      <vt:lpstr>What’s the Waterfall Method?</vt:lpstr>
      <vt:lpstr>Agile or Waterfall? How to choose?</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Tommyrre Reid</dc:creator>
  <cp:lastModifiedBy>Tommyrre Reid</cp:lastModifiedBy>
  <cp:revision>8</cp:revision>
  <dcterms:created xsi:type="dcterms:W3CDTF">2025-02-23T16:26:48Z</dcterms:created>
  <dcterms:modified xsi:type="dcterms:W3CDTF">2025-02-23T19:31:14Z</dcterms:modified>
</cp:coreProperties>
</file>